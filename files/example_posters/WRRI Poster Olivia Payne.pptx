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9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1A8B"/>
    <a:srgbClr val="9400D3"/>
    <a:srgbClr val="DA70D6"/>
    <a:srgbClr val="DA7006"/>
    <a:srgbClr val="DDA0DD"/>
    <a:srgbClr val="006D2C"/>
    <a:srgbClr val="0062CD"/>
    <a:srgbClr val="2CA25F"/>
    <a:srgbClr val="66C2A4"/>
    <a:srgbClr val="B2DF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4" autoAdjust="0"/>
    <p:restoredTop sz="79439" autoAdjust="0"/>
  </p:normalViewPr>
  <p:slideViewPr>
    <p:cSldViewPr snapToGrid="0">
      <p:cViewPr varScale="1">
        <p:scale>
          <a:sx n="12" d="100"/>
          <a:sy n="12" d="100"/>
        </p:scale>
        <p:origin x="12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3200" b="1" baseline="0" dirty="0">
                <a:solidFill>
                  <a:schemeClr val="tx1"/>
                </a:solidFill>
                <a:latin typeface="Gill Sans MT" panose="020B0502020104020203" pitchFamily="34" charset="77"/>
              </a:rPr>
              <a:t>NFIP Policyholder Glidepath</a:t>
            </a:r>
            <a:endParaRPr lang="en-US" sz="3200" b="1" dirty="0">
              <a:solidFill>
                <a:schemeClr val="tx1"/>
              </a:solidFill>
              <a:latin typeface="Gill Sans MT" panose="020B0502020104020203" pitchFamily="34" charset="77"/>
            </a:endParaRPr>
          </a:p>
        </c:rich>
      </c:tx>
      <c:layout>
        <c:manualLayout>
          <c:xMode val="edge"/>
          <c:yMode val="edge"/>
          <c:x val="0.27582187954077092"/>
          <c:y val="1.3516686655664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2353861416361417"/>
          <c:y val="0.11547055298015667"/>
          <c:w val="0.76878696498323196"/>
          <c:h val="0.73622877790394237"/>
        </c:manualLayout>
      </c:layout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NFIP Premium</c:v>
                </c:pt>
              </c:strCache>
            </c:strRef>
          </c:tx>
          <c:spPr>
            <a:ln w="76200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1">
                  <a:lumMod val="75000"/>
                </a:schemeClr>
              </a:solidFill>
              <a:ln w="9525">
                <a:noFill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April 1st, 2021</c:v>
                </c:pt>
                <c:pt idx="1">
                  <c:v>April 1st, 2022</c:v>
                </c:pt>
                <c:pt idx="2">
                  <c:v>April 1st, 2023</c:v>
                </c:pt>
                <c:pt idx="3">
                  <c:v>April 1st, 2024</c:v>
                </c:pt>
                <c:pt idx="4">
                  <c:v>April 1st, 2025</c:v>
                </c:pt>
              </c:strCache>
            </c:strRef>
          </c:cat>
          <c:val>
            <c:numRef>
              <c:f>Sheet1!$B$2:$B$6</c:f>
              <c:numCache>
                <c:formatCode>_("$"* #,##0.00_);_("$"* \(#,##0.00\);_("$"* "-"??_);_(@_)</c:formatCode>
                <c:ptCount val="5"/>
                <c:pt idx="0">
                  <c:v>785</c:v>
                </c:pt>
                <c:pt idx="1">
                  <c:v>926</c:v>
                </c:pt>
                <c:pt idx="2">
                  <c:v>1092</c:v>
                </c:pt>
                <c:pt idx="3">
                  <c:v>1283</c:v>
                </c:pt>
                <c:pt idx="4" formatCode="&quot;$&quot;#,##0.00">
                  <c:v>1300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76C-AB4D-B660-A7A9091C83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0515519"/>
        <c:axId val="250834127"/>
      </c:lineChart>
      <c:catAx>
        <c:axId val="24051551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/d/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/>
                </a:solidFill>
                <a:latin typeface="Gill Sans MT" panose="020B0502020104020203" pitchFamily="34" charset="77"/>
                <a:ea typeface="+mn-ea"/>
                <a:cs typeface="+mn-cs"/>
              </a:defRPr>
            </a:pPr>
            <a:endParaRPr lang="en-US"/>
          </a:p>
        </c:txPr>
        <c:crossAx val="250834127"/>
        <c:crosses val="autoZero"/>
        <c:auto val="1"/>
        <c:lblAlgn val="ctr"/>
        <c:lblOffset val="100"/>
        <c:noMultiLvlLbl val="0"/>
      </c:catAx>
      <c:valAx>
        <c:axId val="250834127"/>
        <c:scaling>
          <c:orientation val="minMax"/>
          <c:min val="6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800" b="1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NFIP</a:t>
                </a:r>
                <a:r>
                  <a:rPr lang="en-US" sz="2800" b="1" baseline="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 Premium </a:t>
                </a:r>
                <a:endParaRPr lang="en-US" sz="2800" b="1" dirty="0">
                  <a:solidFill>
                    <a:schemeClr val="tx1"/>
                  </a:solidFill>
                  <a:latin typeface="Gill Sans MT" panose="020B0502020104020203" pitchFamily="34" charset="77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(&quot;$&quot;* #,##0.00_);_(&quot;$&quot;* \(#,##0.00\);_(&quot;$&quot;* &quot;-&quot;??_);_(@_)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/>
                </a:solidFill>
                <a:latin typeface="Gill Sans MT" panose="020B0502020104020203" pitchFamily="34" charset="77"/>
                <a:ea typeface="+mn-ea"/>
                <a:cs typeface="+mn-cs"/>
              </a:defRPr>
            </a:pPr>
            <a:endParaRPr lang="en-US"/>
          </a:p>
        </c:txPr>
        <c:crossAx val="2405155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3200" b="1" dirty="0">
                <a:solidFill>
                  <a:schemeClr val="tx1"/>
                </a:solidFill>
                <a:latin typeface="Gill Sans MT" panose="020B0502020104020203" pitchFamily="34" charset="77"/>
              </a:rPr>
              <a:t>Assistance</a:t>
            </a:r>
            <a:r>
              <a:rPr lang="en-US" sz="3200" b="1" baseline="0" dirty="0">
                <a:solidFill>
                  <a:schemeClr val="tx1"/>
                </a:solidFill>
                <a:latin typeface="Gill Sans MT" panose="020B0502020104020203" pitchFamily="34" charset="77"/>
              </a:rPr>
              <a:t> Covers Premium Exceeding 1% of MHI or More</a:t>
            </a:r>
            <a:endParaRPr lang="en-US" sz="3200" b="1" dirty="0">
              <a:solidFill>
                <a:schemeClr val="tx1"/>
              </a:solidFill>
              <a:latin typeface="Gill Sans MT" panose="020B0502020104020203" pitchFamily="34" charset="7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30505210058758359"/>
          <c:y val="0.22991132947851306"/>
          <c:w val="0.49355521072703507"/>
          <c:h val="0.7006016850657697"/>
        </c:manualLayout>
      </c:layout>
      <c:doughnutChart>
        <c:varyColors val="1"/>
        <c:ser>
          <c:idx val="0"/>
          <c:order val="0"/>
          <c:spPr>
            <a:solidFill>
              <a:schemeClr val="accent1">
                <a:lumMod val="50000"/>
              </a:schemeClr>
            </a:solidFill>
          </c:spPr>
          <c:dPt>
            <c:idx val="0"/>
            <c:bubble3D val="0"/>
            <c:spPr>
              <a:solidFill>
                <a:schemeClr val="accent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C70-5244-9626-0E1C3F4F1FCE}"/>
              </c:ext>
            </c:extLst>
          </c:dPt>
          <c:dPt>
            <c:idx val="1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C70-5244-9626-0E1C3F4F1FC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922810BF-BA4C-5640-98EC-5F6201B7B504}" type="PERCENTAGE">
                      <a:rPr lang="en-US" sz="3200">
                        <a:solidFill>
                          <a:schemeClr val="bg1"/>
                        </a:solidFill>
                        <a:latin typeface="Gill Sans MT" panose="020B0502020104020203" pitchFamily="34" charset="77"/>
                      </a:rPr>
                      <a:pPr/>
                      <a:t>[PERCENTAGE]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3C70-5244-9626-0E1C3F4F1FC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E086556-92AA-B648-A726-B95006B00C17}" type="PERCENTAGE">
                      <a:rPr lang="en-US" sz="3200">
                        <a:solidFill>
                          <a:schemeClr val="bg1"/>
                        </a:solidFill>
                        <a:latin typeface="Gill Sans MT" panose="020B0502020104020203" pitchFamily="34" charset="77"/>
                      </a:rPr>
                      <a:pPr/>
                      <a:t>[PERCENTAGE]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3C70-5244-9626-0E1C3F4F1FC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val>
            <c:numRef>
              <c:f>Sheet1!$A$2:$B$2</c:f>
              <c:numCache>
                <c:formatCode>"$"#,##0_);[Red]\("$"#,##0\)</c:formatCode>
                <c:ptCount val="2"/>
                <c:pt idx="0">
                  <c:v>500</c:v>
                </c:pt>
                <c:pt idx="1">
                  <c:v>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C70-5244-9626-0E1C3F4F1FCE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0.39686</cdr:x>
      <cdr:y>0.13741</cdr:y>
    </cdr:from>
    <cdr:to>
      <cdr:x>0.54239</cdr:x>
      <cdr:y>0.23159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2A9D1BB4-87C6-7136-B46A-7EBD697CD047}"/>
            </a:ext>
          </a:extLst>
        </cdr:cNvPr>
        <cdr:cNvSpPr txBox="1"/>
      </cdr:nvSpPr>
      <cdr:spPr>
        <a:xfrm xmlns:a="http://schemas.openxmlformats.org/drawingml/2006/main">
          <a:off x="4597257" y="1032853"/>
          <a:ext cx="1685730" cy="70792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  <cdr:relSizeAnchor xmlns:cdr="http://schemas.openxmlformats.org/drawingml/2006/chartDrawing">
    <cdr:from>
      <cdr:x>0.38985</cdr:x>
      <cdr:y>0.11775</cdr:y>
    </cdr:from>
    <cdr:to>
      <cdr:x>0.62597</cdr:x>
      <cdr:y>0.35833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A40C0407-E420-F988-6E04-D1DE417F793E}"/>
            </a:ext>
          </a:extLst>
        </cdr:cNvPr>
        <cdr:cNvSpPr txBox="1"/>
      </cdr:nvSpPr>
      <cdr:spPr>
        <a:xfrm xmlns:a="http://schemas.openxmlformats.org/drawingml/2006/main">
          <a:off x="4515997" y="885084"/>
          <a:ext cx="2735199" cy="180835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600" b="1" dirty="0">
              <a:solidFill>
                <a:srgbClr val="FF0000"/>
              </a:solidFill>
              <a:latin typeface="Gill Sans MT" panose="020B0502020104020203" pitchFamily="34" charset="77"/>
            </a:rPr>
            <a:t>10/1/2021: </a:t>
          </a:r>
          <a:r>
            <a:rPr lang="en-US" sz="1600" dirty="0">
              <a:solidFill>
                <a:schemeClr val="tx1"/>
              </a:solidFill>
              <a:latin typeface="Gill Sans MT" panose="020B0502020104020203" pitchFamily="34" charset="77"/>
            </a:rPr>
            <a:t>Between the 2 phases of the rollout, policyholders could </a:t>
          </a:r>
          <a:r>
            <a:rPr lang="en-US" sz="1600" b="1" dirty="0">
              <a:solidFill>
                <a:schemeClr val="tx1"/>
              </a:solidFill>
              <a:latin typeface="Gill Sans MT" panose="020B0502020104020203" pitchFamily="34" charset="77"/>
            </a:rPr>
            <a:t>choose</a:t>
          </a:r>
          <a:r>
            <a:rPr lang="en-US" sz="1600" dirty="0">
              <a:solidFill>
                <a:schemeClr val="tx1"/>
              </a:solidFill>
              <a:latin typeface="Gill Sans MT" panose="020B0502020104020203" pitchFamily="34" charset="77"/>
            </a:rPr>
            <a:t> between their full-risk and legacy premiums, allowing some to see </a:t>
          </a:r>
          <a:r>
            <a:rPr lang="en-US" sz="1600" b="1" dirty="0">
              <a:solidFill>
                <a:schemeClr val="tx1"/>
              </a:solidFill>
              <a:latin typeface="Gill Sans MT" panose="020B0502020104020203" pitchFamily="34" charset="77"/>
            </a:rPr>
            <a:t>immediate decreases</a:t>
          </a:r>
          <a:r>
            <a:rPr lang="en-US" sz="1600" dirty="0">
              <a:solidFill>
                <a:schemeClr val="tx1"/>
              </a:solidFill>
              <a:latin typeface="Gill Sans MT" panose="020B0502020104020203" pitchFamily="34" charset="77"/>
            </a:rPr>
            <a:t>.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0.71728</cdr:x>
      <cdr:y>0.32324</cdr:y>
    </cdr:from>
    <cdr:to>
      <cdr:x>0.96923</cdr:x>
      <cdr:y>0.63748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2ABFC79A-2E93-B70C-6C29-525426673E08}"/>
            </a:ext>
          </a:extLst>
        </cdr:cNvPr>
        <cdr:cNvSpPr txBox="1"/>
      </cdr:nvSpPr>
      <cdr:spPr>
        <a:xfrm xmlns:a="http://schemas.openxmlformats.org/drawingml/2006/main">
          <a:off x="3295155" y="876426"/>
          <a:ext cx="1157468" cy="85202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  <cdr:relSizeAnchor xmlns:cdr="http://schemas.openxmlformats.org/drawingml/2006/chartDrawing">
    <cdr:from>
      <cdr:x>0.01672</cdr:x>
      <cdr:y>0.79136</cdr:y>
    </cdr:from>
    <cdr:to>
      <cdr:x>0.08133</cdr:x>
      <cdr:y>0.88622</cdr:y>
    </cdr:to>
    <cdr:sp macro="" textlink="">
      <cdr:nvSpPr>
        <cdr:cNvPr id="3" name="Oval 2">
          <a:extLst xmlns:a="http://schemas.openxmlformats.org/drawingml/2006/main">
            <a:ext uri="{FF2B5EF4-FFF2-40B4-BE49-F238E27FC236}">
              <a16:creationId xmlns:a16="http://schemas.microsoft.com/office/drawing/2014/main" id="{7A9C9CD6-23E7-11AA-4034-2274A40C67B0}"/>
            </a:ext>
          </a:extLst>
        </cdr:cNvPr>
        <cdr:cNvSpPr/>
      </cdr:nvSpPr>
      <cdr:spPr>
        <a:xfrm xmlns:a="http://schemas.openxmlformats.org/drawingml/2006/main">
          <a:off x="156463" y="5198836"/>
          <a:ext cx="604457" cy="623180"/>
        </a:xfrm>
        <a:prstGeom xmlns:a="http://schemas.openxmlformats.org/drawingml/2006/main" prst="ellipse">
          <a:avLst/>
        </a:prstGeom>
        <a:solidFill xmlns:a="http://schemas.openxmlformats.org/drawingml/2006/main">
          <a:schemeClr val="accent1">
            <a:lumMod val="50000"/>
          </a:schemeClr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 dirty="0"/>
        </a:p>
      </cdr:txBody>
    </cdr:sp>
  </cdr:relSizeAnchor>
  <cdr:relSizeAnchor xmlns:cdr="http://schemas.openxmlformats.org/drawingml/2006/chartDrawing">
    <cdr:from>
      <cdr:x>0.01672</cdr:x>
      <cdr:y>0.90514</cdr:y>
    </cdr:from>
    <cdr:to>
      <cdr:x>0.08119</cdr:x>
      <cdr:y>1</cdr:y>
    </cdr:to>
    <cdr:sp macro="" textlink="">
      <cdr:nvSpPr>
        <cdr:cNvPr id="4" name="Oval 3">
          <a:extLst xmlns:a="http://schemas.openxmlformats.org/drawingml/2006/main">
            <a:ext uri="{FF2B5EF4-FFF2-40B4-BE49-F238E27FC236}">
              <a16:creationId xmlns:a16="http://schemas.microsoft.com/office/drawing/2014/main" id="{D46077C0-86B4-D8AA-11EE-22A4C06DA692}"/>
            </a:ext>
          </a:extLst>
        </cdr:cNvPr>
        <cdr:cNvSpPr/>
      </cdr:nvSpPr>
      <cdr:spPr>
        <a:xfrm xmlns:a="http://schemas.openxmlformats.org/drawingml/2006/main">
          <a:off x="156463" y="5946289"/>
          <a:ext cx="603147" cy="623180"/>
        </a:xfrm>
        <a:prstGeom xmlns:a="http://schemas.openxmlformats.org/drawingml/2006/main" prst="ellipse">
          <a:avLst/>
        </a:prstGeom>
        <a:solidFill xmlns:a="http://schemas.openxmlformats.org/drawingml/2006/main">
          <a:schemeClr val="accent1">
            <a:lumMod val="60000"/>
            <a:lumOff val="40000"/>
          </a:schemeClr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 dirty="0"/>
        </a:p>
      </cdr:txBody>
    </cdr:sp>
  </cdr:relSizeAnchor>
  <cdr:relSizeAnchor xmlns:cdr="http://schemas.openxmlformats.org/drawingml/2006/chartDrawing">
    <cdr:from>
      <cdr:x>0.09139</cdr:x>
      <cdr:y>0.79714</cdr:y>
    </cdr:from>
    <cdr:to>
      <cdr:x>0.63066</cdr:x>
      <cdr:y>0.86853</cdr:y>
    </cdr:to>
    <cdr:sp macro="" textlink="">
      <cdr:nvSpPr>
        <cdr:cNvPr id="5" name="TextBox 4">
          <a:extLst xmlns:a="http://schemas.openxmlformats.org/drawingml/2006/main">
            <a:ext uri="{FF2B5EF4-FFF2-40B4-BE49-F238E27FC236}">
              <a16:creationId xmlns:a16="http://schemas.microsoft.com/office/drawing/2014/main" id="{9F4F1016-C3E5-23E9-74F2-DB58A04309ED}"/>
            </a:ext>
          </a:extLst>
        </cdr:cNvPr>
        <cdr:cNvSpPr txBox="1"/>
      </cdr:nvSpPr>
      <cdr:spPr>
        <a:xfrm xmlns:a="http://schemas.openxmlformats.org/drawingml/2006/main">
          <a:off x="854982" y="5236783"/>
          <a:ext cx="5045123" cy="46899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2800" dirty="0">
              <a:latin typeface="Gill Sans MT" panose="020B0502020104020203" pitchFamily="34" charset="77"/>
            </a:rPr>
            <a:t>Paid</a:t>
          </a:r>
          <a:r>
            <a:rPr lang="en-US" sz="2800" baseline="0" dirty="0">
              <a:latin typeface="Gill Sans MT" panose="020B0502020104020203" pitchFamily="34" charset="77"/>
            </a:rPr>
            <a:t> by</a:t>
          </a:r>
          <a:r>
            <a:rPr lang="en-US" sz="2800" dirty="0">
              <a:latin typeface="Gill Sans MT" panose="020B0502020104020203" pitchFamily="34" charset="77"/>
            </a:rPr>
            <a:t> MBA</a:t>
          </a:r>
        </a:p>
      </cdr:txBody>
    </cdr:sp>
  </cdr:relSizeAnchor>
  <cdr:relSizeAnchor xmlns:cdr="http://schemas.openxmlformats.org/drawingml/2006/chartDrawing">
    <cdr:from>
      <cdr:x>0.09137</cdr:x>
      <cdr:y>0.91906</cdr:y>
    </cdr:from>
    <cdr:to>
      <cdr:x>0.49713</cdr:x>
      <cdr:y>0.99045</cdr:y>
    </cdr:to>
    <cdr:sp macro="" textlink="">
      <cdr:nvSpPr>
        <cdr:cNvPr id="6" name="TextBox 1">
          <a:extLst xmlns:a="http://schemas.openxmlformats.org/drawingml/2006/main">
            <a:ext uri="{FF2B5EF4-FFF2-40B4-BE49-F238E27FC236}">
              <a16:creationId xmlns:a16="http://schemas.microsoft.com/office/drawing/2014/main" id="{83F40DBF-2521-DDD0-AD73-67B2F16D09BC}"/>
            </a:ext>
          </a:extLst>
        </cdr:cNvPr>
        <cdr:cNvSpPr txBox="1"/>
      </cdr:nvSpPr>
      <cdr:spPr>
        <a:xfrm xmlns:a="http://schemas.openxmlformats.org/drawingml/2006/main">
          <a:off x="854769" y="6037728"/>
          <a:ext cx="3796071" cy="46899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2800" dirty="0">
              <a:latin typeface="Gill Sans MT" panose="020B0502020104020203" pitchFamily="34" charset="77"/>
            </a:rPr>
            <a:t>Paid</a:t>
          </a:r>
          <a:r>
            <a:rPr lang="en-US" sz="2800" baseline="0" dirty="0">
              <a:latin typeface="Gill Sans MT" panose="020B0502020104020203" pitchFamily="34" charset="77"/>
            </a:rPr>
            <a:t> by</a:t>
          </a:r>
          <a:r>
            <a:rPr lang="en-US" sz="2800" dirty="0">
              <a:latin typeface="Gill Sans MT" panose="020B0502020104020203" pitchFamily="34" charset="77"/>
            </a:rPr>
            <a:t> Policyholder</a:t>
          </a:r>
        </a:p>
      </cdr:txBody>
    </cdr:sp>
  </cdr:relSizeAnchor>
  <cdr:relSizeAnchor xmlns:cdr="http://schemas.openxmlformats.org/drawingml/2006/chartDrawing">
    <cdr:from>
      <cdr:x>0.79729</cdr:x>
      <cdr:y>0.81605</cdr:y>
    </cdr:from>
    <cdr:to>
      <cdr:x>0.93983</cdr:x>
      <cdr:y>0.94837</cdr:y>
    </cdr:to>
    <cdr:sp macro="" textlink="">
      <cdr:nvSpPr>
        <cdr:cNvPr id="9" name="TextBox 8">
          <a:extLst xmlns:a="http://schemas.openxmlformats.org/drawingml/2006/main">
            <a:ext uri="{FF2B5EF4-FFF2-40B4-BE49-F238E27FC236}">
              <a16:creationId xmlns:a16="http://schemas.microsoft.com/office/drawing/2014/main" id="{F91116A5-638C-E1CF-2571-F03220273967}"/>
            </a:ext>
          </a:extLst>
        </cdr:cNvPr>
        <cdr:cNvSpPr txBox="1"/>
      </cdr:nvSpPr>
      <cdr:spPr>
        <a:xfrm xmlns:a="http://schemas.openxmlformats.org/drawingml/2006/main">
          <a:off x="7459034" y="5361000"/>
          <a:ext cx="1333500" cy="86926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  <cdr:relSizeAnchor xmlns:cdr="http://schemas.openxmlformats.org/drawingml/2006/chartDrawing">
    <cdr:from>
      <cdr:x>0.63233</cdr:x>
      <cdr:y>0.93364</cdr:y>
    </cdr:from>
    <cdr:to>
      <cdr:x>1</cdr:x>
      <cdr:y>0.99395</cdr:y>
    </cdr:to>
    <cdr:sp macro="" textlink="">
      <cdr:nvSpPr>
        <cdr:cNvPr id="11" name="TextBox 10">
          <a:extLst xmlns:a="http://schemas.openxmlformats.org/drawingml/2006/main">
            <a:ext uri="{FF2B5EF4-FFF2-40B4-BE49-F238E27FC236}">
              <a16:creationId xmlns:a16="http://schemas.microsoft.com/office/drawing/2014/main" id="{161567FF-3746-60A6-8EB5-26E4794523A8}"/>
            </a:ext>
          </a:extLst>
        </cdr:cNvPr>
        <cdr:cNvSpPr txBox="1"/>
      </cdr:nvSpPr>
      <cdr:spPr>
        <a:xfrm xmlns:a="http://schemas.openxmlformats.org/drawingml/2006/main">
          <a:off x="5915771" y="6133493"/>
          <a:ext cx="3439697" cy="39625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800" dirty="0">
              <a:latin typeface="Gill Sans MT" panose="020B0502020104020203" pitchFamily="34" charset="77"/>
            </a:rPr>
            <a:t>$500 Paid by MBA voucher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12C9E-6E82-9549-8788-D7307B5D5A69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CE61-7402-0448-B0CB-AC19440389A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391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59CE61-7402-0448-B0CB-AC19440389A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479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4D6B-7098-4119-A687-2EBD02CD7121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2B270-9276-4E4F-B061-CF301A2D4E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584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4D6B-7098-4119-A687-2EBD02CD7121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2B270-9276-4E4F-B061-CF301A2D4E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054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4D6B-7098-4119-A687-2EBD02CD7121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2B270-9276-4E4F-B061-CF301A2D4E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143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4D6B-7098-4119-A687-2EBD02CD7121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2B270-9276-4E4F-B061-CF301A2D4E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166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4D6B-7098-4119-A687-2EBD02CD7121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2B270-9276-4E4F-B061-CF301A2D4E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750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4D6B-7098-4119-A687-2EBD02CD7121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2B270-9276-4E4F-B061-CF301A2D4E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589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4D6B-7098-4119-A687-2EBD02CD7121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2B270-9276-4E4F-B061-CF301A2D4E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521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4D6B-7098-4119-A687-2EBD02CD7121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2B270-9276-4E4F-B061-CF301A2D4E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843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4D6B-7098-4119-A687-2EBD02CD7121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2B270-9276-4E4F-B061-CF301A2D4E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417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4D6B-7098-4119-A687-2EBD02CD7121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2B270-9276-4E4F-B061-CF301A2D4E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592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4D6B-7098-4119-A687-2EBD02CD7121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2B270-9276-4E4F-B061-CF301A2D4E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130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9E4D6B-7098-4119-A687-2EBD02CD7121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72B270-9276-4E4F-B061-CF301A2D4E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13" Type="http://schemas.openxmlformats.org/officeDocument/2006/relationships/image" Target="../media/image9.svg"/><Relationship Id="rId3" Type="http://schemas.openxmlformats.org/officeDocument/2006/relationships/chart" Target="../charts/chart1.xml"/><Relationship Id="rId21" Type="http://schemas.openxmlformats.org/officeDocument/2006/relationships/image" Target="../media/image11.png"/><Relationship Id="rId7" Type="http://schemas.openxmlformats.org/officeDocument/2006/relationships/image" Target="../media/image4.svg"/><Relationship Id="rId12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11" Type="http://schemas.openxmlformats.org/officeDocument/2006/relationships/image" Target="../media/image7.png"/><Relationship Id="rId5" Type="http://schemas.openxmlformats.org/officeDocument/2006/relationships/image" Target="../media/image2.png"/><Relationship Id="rId10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5.svg"/><Relationship Id="rId14" Type="http://schemas.openxmlformats.org/officeDocument/2006/relationships/image" Target="../media/image10.png"/><Relationship Id="rId2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FABE87D-195D-CEDD-9FFB-E96F8B5038BB}"/>
              </a:ext>
            </a:extLst>
          </p:cNvPr>
          <p:cNvSpPr/>
          <p:nvPr/>
        </p:nvSpPr>
        <p:spPr>
          <a:xfrm>
            <a:off x="457200" y="5943600"/>
            <a:ext cx="10972800" cy="1143000"/>
          </a:xfrm>
          <a:prstGeom prst="rect">
            <a:avLst/>
          </a:prstGeom>
          <a:solidFill>
            <a:srgbClr val="1D34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Gill Sans MT" panose="020B0502020104020203" pitchFamily="34" charset="0"/>
              </a:rPr>
              <a:t>Background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E4A26C-6244-ECF2-87BB-B47EF9062556}"/>
              </a:ext>
            </a:extLst>
          </p:cNvPr>
          <p:cNvSpPr/>
          <p:nvPr/>
        </p:nvSpPr>
        <p:spPr>
          <a:xfrm>
            <a:off x="494648" y="6961680"/>
            <a:ext cx="10935350" cy="6691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24686D-670A-F2AE-35EB-8393D0282017}"/>
              </a:ext>
            </a:extLst>
          </p:cNvPr>
          <p:cNvSpPr/>
          <p:nvPr/>
        </p:nvSpPr>
        <p:spPr>
          <a:xfrm>
            <a:off x="457200" y="13817600"/>
            <a:ext cx="10972800" cy="1143000"/>
          </a:xfrm>
          <a:prstGeom prst="rect">
            <a:avLst/>
          </a:prstGeom>
          <a:solidFill>
            <a:srgbClr val="1D34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Gill Sans MT" panose="020B0502020104020203" pitchFamily="34" charset="0"/>
              </a:rPr>
              <a:t>Data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268EC5D-5548-B5E1-30C1-473C3379B0B1}"/>
              </a:ext>
            </a:extLst>
          </p:cNvPr>
          <p:cNvSpPr/>
          <p:nvPr/>
        </p:nvSpPr>
        <p:spPr>
          <a:xfrm>
            <a:off x="345442" y="7259827"/>
            <a:ext cx="10935350" cy="6691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Gill Sans MT" panose="020B0502020104020203" pitchFamily="34" charset="0"/>
              </a:rPr>
              <a:t>The </a:t>
            </a:r>
            <a:r>
              <a:rPr lang="en-US" sz="3200" b="1" dirty="0">
                <a:solidFill>
                  <a:schemeClr val="tx1"/>
                </a:solidFill>
                <a:latin typeface="Gill Sans MT" panose="020B0502020104020203" pitchFamily="34" charset="0"/>
              </a:rPr>
              <a:t>National Flood Insurance Program (NFIP)</a:t>
            </a:r>
            <a:r>
              <a:rPr lang="en-US" sz="3200" dirty="0">
                <a:solidFill>
                  <a:schemeClr val="tx1"/>
                </a:solidFill>
                <a:latin typeface="Gill Sans MT" panose="020B0502020104020203" pitchFamily="34" charset="0"/>
              </a:rPr>
              <a:t> has focused on affordability</a:t>
            </a:r>
            <a:r>
              <a:rPr lang="en-US" sz="3200" b="1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sz="3200" dirty="0">
                <a:solidFill>
                  <a:schemeClr val="tx1"/>
                </a:solidFill>
                <a:latin typeface="Gill Sans MT" panose="020B0502020104020203" pitchFamily="34" charset="0"/>
              </a:rPr>
              <a:t>rather than actuarial solvency, leading to a shortfall in revenue and insufficient funding to pay claims.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1"/>
                </a:solidFill>
                <a:latin typeface="Gill Sans MT" panose="020B0502020104020203" pitchFamily="34" charset="0"/>
              </a:rPr>
              <a:t>Risk Rating 2.0 </a:t>
            </a:r>
            <a:r>
              <a:rPr lang="en-US" sz="3200" dirty="0">
                <a:solidFill>
                  <a:schemeClr val="tx1"/>
                </a:solidFill>
                <a:latin typeface="Gill Sans MT" panose="020B0502020104020203" pitchFamily="34" charset="0"/>
              </a:rPr>
              <a:t>aims to make the NFIP more actuarially sound by addressing the gap that exists between the </a:t>
            </a:r>
            <a:r>
              <a:rPr lang="en-US" sz="3200" b="1" dirty="0">
                <a:solidFill>
                  <a:schemeClr val="tx1"/>
                </a:solidFill>
                <a:latin typeface="Gill Sans MT" panose="020B0502020104020203" pitchFamily="34" charset="0"/>
              </a:rPr>
              <a:t>actual flood risk </a:t>
            </a:r>
            <a:r>
              <a:rPr lang="en-US" sz="3200" dirty="0">
                <a:solidFill>
                  <a:schemeClr val="tx1"/>
                </a:solidFill>
                <a:latin typeface="Gill Sans MT" panose="020B0502020104020203" pitchFamily="34" charset="0"/>
              </a:rPr>
              <a:t>a property possesses, and the </a:t>
            </a:r>
            <a:r>
              <a:rPr lang="en-US" sz="3200" b="1" dirty="0">
                <a:solidFill>
                  <a:schemeClr val="tx1"/>
                </a:solidFill>
                <a:latin typeface="Gill Sans MT" panose="020B0502020104020203" pitchFamily="34" charset="0"/>
              </a:rPr>
              <a:t>flood risk reflected within the legacy premium</a:t>
            </a:r>
            <a:r>
              <a:rPr lang="en-US" sz="3200" dirty="0">
                <a:solidFill>
                  <a:schemeClr val="tx1"/>
                </a:solidFill>
                <a:latin typeface="Gill Sans MT" panose="020B0502020104020203" pitchFamily="34" charset="0"/>
              </a:rPr>
              <a:t> of the property.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Gill Sans MT" panose="020B0502020104020203" pitchFamily="34" charset="0"/>
              </a:rPr>
              <a:t>This change prompts </a:t>
            </a:r>
            <a:r>
              <a:rPr lang="en-US" sz="3200" b="1" dirty="0">
                <a:solidFill>
                  <a:schemeClr val="tx1"/>
                </a:solidFill>
                <a:latin typeface="Gill Sans MT" panose="020B0502020104020203" pitchFamily="34" charset="0"/>
              </a:rPr>
              <a:t>significant premium increases </a:t>
            </a:r>
            <a:r>
              <a:rPr lang="en-US" sz="3200" dirty="0">
                <a:solidFill>
                  <a:schemeClr val="tx1"/>
                </a:solidFill>
                <a:latin typeface="Gill Sans MT" panose="020B0502020104020203" pitchFamily="34" charset="0"/>
              </a:rPr>
              <a:t>for many NFIP policyholders. Increases are capped at a </a:t>
            </a:r>
            <a:r>
              <a:rPr lang="en-US" sz="3200" b="1" dirty="0">
                <a:solidFill>
                  <a:schemeClr val="tx1"/>
                </a:solidFill>
                <a:latin typeface="Gill Sans MT" panose="020B0502020104020203" pitchFamily="34" charset="0"/>
              </a:rPr>
              <a:t>maximum of 18% per year </a:t>
            </a:r>
            <a:r>
              <a:rPr lang="en-US" sz="3200" dirty="0">
                <a:solidFill>
                  <a:schemeClr val="tx1"/>
                </a:solidFill>
                <a:latin typeface="Gill Sans MT" panose="020B0502020104020203" pitchFamily="34" charset="0"/>
              </a:rPr>
              <a:t>by federal statute.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Gill Sans MT" panose="020B0502020104020203" pitchFamily="34" charset="0"/>
              </a:rPr>
              <a:t>This research seeks to quantify </a:t>
            </a:r>
            <a:r>
              <a:rPr lang="en-US" sz="3200" b="1" dirty="0">
                <a:solidFill>
                  <a:schemeClr val="tx1"/>
                </a:solidFill>
                <a:latin typeface="Gill Sans MT" panose="020B0502020104020203" pitchFamily="34" charset="0"/>
              </a:rPr>
              <a:t>how flood insurance affordability and uptake will change in North Carolina </a:t>
            </a:r>
            <a:r>
              <a:rPr lang="en-US" sz="3200" dirty="0">
                <a:solidFill>
                  <a:schemeClr val="tx1"/>
                </a:solidFill>
                <a:latin typeface="Gill Sans MT" panose="020B0502020104020203" pitchFamily="34" charset="0"/>
              </a:rPr>
              <a:t>post-implementation of the Risk Rating 2.0 methodology.</a:t>
            </a:r>
            <a:endParaRPr lang="en-US" sz="3200" b="1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7CE1871-793F-DA3E-3234-25BAFDCB6B8B}"/>
              </a:ext>
            </a:extLst>
          </p:cNvPr>
          <p:cNvCxnSpPr>
            <a:cxnSpLocks/>
          </p:cNvCxnSpPr>
          <p:nvPr/>
        </p:nvCxnSpPr>
        <p:spPr>
          <a:xfrm>
            <a:off x="11887200" y="5943600"/>
            <a:ext cx="0" cy="26517600"/>
          </a:xfrm>
          <a:prstGeom prst="line">
            <a:avLst/>
          </a:prstGeom>
          <a:ln w="76200">
            <a:solidFill>
              <a:schemeClr val="accent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E95853B3-88C7-579A-31C2-4129369AE5C3}"/>
              </a:ext>
            </a:extLst>
          </p:cNvPr>
          <p:cNvSpPr/>
          <p:nvPr/>
        </p:nvSpPr>
        <p:spPr>
          <a:xfrm>
            <a:off x="705814" y="25616230"/>
            <a:ext cx="10624472" cy="1678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  <a:latin typeface="Gill Sans MT" panose="020B0502020104020203" pitchFamily="34" charset="0"/>
              </a:rPr>
              <a:t>Figure 2. 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The 4-year period exemplified above would be assigned one </a:t>
            </a:r>
            <a:r>
              <a:rPr lang="en-US" sz="2800" b="1" dirty="0">
                <a:solidFill>
                  <a:schemeClr val="tx1"/>
                </a:solidFill>
                <a:latin typeface="Gill Sans MT" panose="020B0502020104020203" pitchFamily="34" charset="0"/>
              </a:rPr>
              <a:t>unique stint ID, 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representing a</a:t>
            </a:r>
            <a:r>
              <a:rPr lang="en-US" sz="2800" b="1" dirty="0">
                <a:solidFill>
                  <a:schemeClr val="tx1"/>
                </a:solidFill>
                <a:latin typeface="Gill Sans MT" panose="020B0502020104020203" pitchFamily="34" charset="0"/>
              </a:rPr>
              <a:t> single period of continuous coverage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.  </a:t>
            </a:r>
          </a:p>
        </p:txBody>
      </p:sp>
      <p:graphicFrame>
        <p:nvGraphicFramePr>
          <p:cNvPr id="62" name="Chart 61">
            <a:extLst>
              <a:ext uri="{FF2B5EF4-FFF2-40B4-BE49-F238E27FC236}">
                <a16:creationId xmlns:a16="http://schemas.microsoft.com/office/drawing/2014/main" id="{65714207-B39C-D66B-5827-9C2A8CC744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289644"/>
              </p:ext>
            </p:extLst>
          </p:nvPr>
        </p:nvGraphicFramePr>
        <p:xfrm>
          <a:off x="48987" y="15269031"/>
          <a:ext cx="11583936" cy="75166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5" name="Rectangle 64">
            <a:extLst>
              <a:ext uri="{FF2B5EF4-FFF2-40B4-BE49-F238E27FC236}">
                <a16:creationId xmlns:a16="http://schemas.microsoft.com/office/drawing/2014/main" id="{75CECDD9-2877-97E7-527A-3CCB6CDB1C78}"/>
              </a:ext>
            </a:extLst>
          </p:cNvPr>
          <p:cNvSpPr/>
          <p:nvPr/>
        </p:nvSpPr>
        <p:spPr>
          <a:xfrm>
            <a:off x="741415" y="21391117"/>
            <a:ext cx="11169965" cy="37175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  <a:latin typeface="Gill Sans MT" panose="020B0502020104020203" pitchFamily="34" charset="0"/>
              </a:rPr>
              <a:t>Figure 1. 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Increases faced by a </a:t>
            </a:r>
            <a:r>
              <a:rPr lang="en-US" sz="2800" b="1" dirty="0">
                <a:solidFill>
                  <a:schemeClr val="tx1"/>
                </a:solidFill>
                <a:latin typeface="Gill Sans MT" panose="020B0502020104020203" pitchFamily="34" charset="0"/>
              </a:rPr>
              <a:t>hypothetical new NFIP policyholder 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during the rollout of Risk Rating 2.0.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D01A93-2BE7-54C2-47E2-43C2B0D7D826}"/>
              </a:ext>
            </a:extLst>
          </p:cNvPr>
          <p:cNvSpPr txBox="1"/>
          <p:nvPr/>
        </p:nvSpPr>
        <p:spPr>
          <a:xfrm>
            <a:off x="8324846" y="17417105"/>
            <a:ext cx="19363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Gill Sans MT" panose="020B0502020104020203" pitchFamily="34" charset="77"/>
              </a:rPr>
              <a:t>Premium </a:t>
            </a:r>
            <a:r>
              <a:rPr lang="en-US" sz="1600" b="1" dirty="0">
                <a:latin typeface="Gill Sans MT" panose="020B0502020104020203" pitchFamily="34" charset="77"/>
              </a:rPr>
              <a:t>reaches</a:t>
            </a:r>
            <a:r>
              <a:rPr lang="en-US" sz="1600" dirty="0">
                <a:latin typeface="Gill Sans MT" panose="020B0502020104020203" pitchFamily="34" charset="77"/>
              </a:rPr>
              <a:t> projected actuarially sound rate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A023696-0201-2EA7-30B0-2D6F916D0DBA}"/>
              </a:ext>
            </a:extLst>
          </p:cNvPr>
          <p:cNvSpPr txBox="1"/>
          <p:nvPr/>
        </p:nvSpPr>
        <p:spPr>
          <a:xfrm>
            <a:off x="10388584" y="16932145"/>
            <a:ext cx="1692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Gill Sans MT" panose="020B0502020104020203" pitchFamily="34" charset="77"/>
              </a:rPr>
              <a:t>Potential </a:t>
            </a:r>
            <a:r>
              <a:rPr lang="en-US" sz="1600" b="1" dirty="0">
                <a:latin typeface="Gill Sans MT" panose="020B0502020104020203" pitchFamily="34" charset="77"/>
              </a:rPr>
              <a:t>inflationary </a:t>
            </a:r>
            <a:r>
              <a:rPr lang="en-US" sz="1600" dirty="0">
                <a:latin typeface="Gill Sans MT" panose="020B0502020104020203" pitchFamily="34" charset="77"/>
              </a:rPr>
              <a:t>increases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D9B822D-F7F3-D661-FF4D-D277873FB213}"/>
              </a:ext>
            </a:extLst>
          </p:cNvPr>
          <p:cNvSpPr txBox="1"/>
          <p:nvPr/>
        </p:nvSpPr>
        <p:spPr>
          <a:xfrm>
            <a:off x="4502760" y="19858941"/>
            <a:ext cx="15827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Gill Sans MT" panose="020B0502020104020203" pitchFamily="34" charset="77"/>
              </a:rPr>
              <a:t>Increasing at the </a:t>
            </a:r>
            <a:r>
              <a:rPr lang="en-US" sz="1600" b="1" dirty="0">
                <a:latin typeface="Gill Sans MT" panose="020B0502020104020203" pitchFamily="34" charset="77"/>
              </a:rPr>
              <a:t>maximum</a:t>
            </a:r>
            <a:r>
              <a:rPr lang="en-US" sz="1600" dirty="0">
                <a:latin typeface="Gill Sans MT" panose="020B0502020104020203" pitchFamily="34" charset="77"/>
              </a:rPr>
              <a:t> of 18% per year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B2344FB-EAE2-9AE4-9048-8BBA49DA4E17}"/>
              </a:ext>
            </a:extLst>
          </p:cNvPr>
          <p:cNvSpPr txBox="1"/>
          <p:nvPr/>
        </p:nvSpPr>
        <p:spPr>
          <a:xfrm>
            <a:off x="6561328" y="18611849"/>
            <a:ext cx="1915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Gill Sans MT" panose="020B0502020104020203" pitchFamily="34" charset="77"/>
              </a:rPr>
              <a:t>Increasing at the </a:t>
            </a:r>
            <a:r>
              <a:rPr lang="en-US" sz="1600" b="1" dirty="0">
                <a:latin typeface="Gill Sans MT" panose="020B0502020104020203" pitchFamily="34" charset="77"/>
              </a:rPr>
              <a:t>maximum</a:t>
            </a:r>
            <a:r>
              <a:rPr lang="en-US" sz="1600" dirty="0">
                <a:latin typeface="Gill Sans MT" panose="020B0502020104020203" pitchFamily="34" charset="77"/>
              </a:rPr>
              <a:t> of 18% per year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413A30B-2E53-D695-8AF5-A5C71B0D44D4}"/>
              </a:ext>
            </a:extLst>
          </p:cNvPr>
          <p:cNvCxnSpPr>
            <a:cxnSpLocks/>
          </p:cNvCxnSpPr>
          <p:nvPr/>
        </p:nvCxnSpPr>
        <p:spPr>
          <a:xfrm>
            <a:off x="4420919" y="16140255"/>
            <a:ext cx="0" cy="5522712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Picture 70">
            <a:extLst>
              <a:ext uri="{FF2B5EF4-FFF2-40B4-BE49-F238E27FC236}">
                <a16:creationId xmlns:a16="http://schemas.microsoft.com/office/drawing/2014/main" id="{B5C93417-56C8-29B9-60F2-4377E4D17CF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1505"/>
          <a:stretch/>
        </p:blipFill>
        <p:spPr>
          <a:xfrm>
            <a:off x="499241" y="23802193"/>
            <a:ext cx="10897104" cy="195331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91672B8-0FD5-6BE5-F371-01E1682DDC50}"/>
              </a:ext>
            </a:extLst>
          </p:cNvPr>
          <p:cNvSpPr/>
          <p:nvPr/>
        </p:nvSpPr>
        <p:spPr>
          <a:xfrm>
            <a:off x="8229600" y="0"/>
            <a:ext cx="27432000" cy="3657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0" b="1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5F5FA45-90EE-1F63-E523-9B0DC821795B}"/>
              </a:ext>
            </a:extLst>
          </p:cNvPr>
          <p:cNvCxnSpPr>
            <a:cxnSpLocks/>
          </p:cNvCxnSpPr>
          <p:nvPr/>
        </p:nvCxnSpPr>
        <p:spPr>
          <a:xfrm flipV="1">
            <a:off x="499241" y="28398079"/>
            <a:ext cx="10003624" cy="5259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7D64D2AF-5F6B-1585-8D91-045B710565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01966" y="360680"/>
            <a:ext cx="4948868" cy="468840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C40AF74-1883-C4D0-8CF2-3D5FF312EB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1600" y="360680"/>
            <a:ext cx="5690331" cy="4572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534505E-E762-9AB6-A0D3-0DE541C939AD}"/>
              </a:ext>
            </a:extLst>
          </p:cNvPr>
          <p:cNvSpPr/>
          <p:nvPr/>
        </p:nvSpPr>
        <p:spPr>
          <a:xfrm>
            <a:off x="8382000" y="152400"/>
            <a:ext cx="27432000" cy="3657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0" b="1" dirty="0">
                <a:solidFill>
                  <a:schemeClr val="bg1"/>
                </a:solidFill>
                <a:latin typeface="Gill Sans MT" panose="020B0502020104020203" pitchFamily="34" charset="0"/>
              </a:rPr>
              <a:t>Risk Rating 2.0 and the Affordability and Uptake of Flood Insurance in North Carolina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C10D32-2F16-0F3C-0006-A62B311ED3BA}"/>
              </a:ext>
            </a:extLst>
          </p:cNvPr>
          <p:cNvSpPr/>
          <p:nvPr/>
        </p:nvSpPr>
        <p:spPr>
          <a:xfrm>
            <a:off x="7993570" y="3359071"/>
            <a:ext cx="28208860" cy="22471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500" dirty="0">
                <a:solidFill>
                  <a:schemeClr val="bg1"/>
                </a:solidFill>
                <a:latin typeface="Gill Sans MT" panose="020B0502020104020203" pitchFamily="34" charset="0"/>
              </a:rPr>
              <a:t>Olivia L. Payne (oleigh@unc.edu), Environmental Studies and Public Policy, Class of 2027</a:t>
            </a:r>
          </a:p>
          <a:p>
            <a:pPr algn="ctr"/>
            <a:r>
              <a:rPr lang="en-US" sz="4500" dirty="0">
                <a:solidFill>
                  <a:schemeClr val="bg1"/>
                </a:solidFill>
                <a:latin typeface="Gill Sans MT" panose="020B0502020104020203" pitchFamily="34" charset="0"/>
              </a:rPr>
              <a:t>Kieran P. Fitzmason, Harrison B. Zeff, Gregory W. Characklis, Antonia Sebastian </a:t>
            </a:r>
            <a:endParaRPr lang="en-US" sz="4500" dirty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algn="ctr"/>
            <a:endParaRPr lang="en-US" sz="40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410B72-A5A4-2DE2-812C-8C5DA368283F}"/>
              </a:ext>
            </a:extLst>
          </p:cNvPr>
          <p:cNvSpPr/>
          <p:nvPr/>
        </p:nvSpPr>
        <p:spPr>
          <a:xfrm>
            <a:off x="12367284" y="5939795"/>
            <a:ext cx="18906252" cy="1143000"/>
          </a:xfrm>
          <a:prstGeom prst="rect">
            <a:avLst/>
          </a:prstGeom>
          <a:solidFill>
            <a:srgbClr val="1D34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Gill Sans MT" panose="020B0502020104020203" pitchFamily="34" charset="0"/>
              </a:rPr>
              <a:t>Preliminary Results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9B8118-11BB-BF40-196C-8CEE79CB7C59}"/>
              </a:ext>
            </a:extLst>
          </p:cNvPr>
          <p:cNvSpPr/>
          <p:nvPr/>
        </p:nvSpPr>
        <p:spPr>
          <a:xfrm>
            <a:off x="32461200" y="5943600"/>
            <a:ext cx="10972800" cy="1143000"/>
          </a:xfrm>
          <a:prstGeom prst="rect">
            <a:avLst/>
          </a:prstGeom>
          <a:solidFill>
            <a:srgbClr val="1D34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Gill Sans MT" panose="020B0502020104020203" pitchFamily="34" charset="0"/>
              </a:rPr>
              <a:t>Broader Impacts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0E157A-84A8-61B6-98EE-B30A28E982A8}"/>
              </a:ext>
            </a:extLst>
          </p:cNvPr>
          <p:cNvSpPr/>
          <p:nvPr/>
        </p:nvSpPr>
        <p:spPr>
          <a:xfrm>
            <a:off x="32572958" y="13536183"/>
            <a:ext cx="10972800" cy="1143000"/>
          </a:xfrm>
          <a:prstGeom prst="rect">
            <a:avLst/>
          </a:prstGeom>
          <a:solidFill>
            <a:srgbClr val="1D34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Gill Sans MT" panose="020B0502020104020203" pitchFamily="34" charset="0"/>
              </a:rPr>
              <a:t>Future Work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303095-4F8D-88F0-5B12-7CEAC23B87F3}"/>
              </a:ext>
            </a:extLst>
          </p:cNvPr>
          <p:cNvSpPr/>
          <p:nvPr/>
        </p:nvSpPr>
        <p:spPr>
          <a:xfrm>
            <a:off x="32526927" y="26488685"/>
            <a:ext cx="10972800" cy="1143000"/>
          </a:xfrm>
          <a:prstGeom prst="rect">
            <a:avLst/>
          </a:prstGeom>
          <a:solidFill>
            <a:srgbClr val="1D34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Gill Sans MT" panose="020B0502020104020203" pitchFamily="34" charset="0"/>
              </a:rPr>
              <a:t>Acknowledgements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E15B17-569E-70CA-BB4C-8F274C15FE49}"/>
              </a:ext>
            </a:extLst>
          </p:cNvPr>
          <p:cNvSpPr/>
          <p:nvPr/>
        </p:nvSpPr>
        <p:spPr>
          <a:xfrm>
            <a:off x="32560915" y="29913098"/>
            <a:ext cx="10972800" cy="1143000"/>
          </a:xfrm>
          <a:prstGeom prst="rect">
            <a:avLst/>
          </a:prstGeom>
          <a:solidFill>
            <a:srgbClr val="1D34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Gill Sans MT" panose="020B0502020104020203" pitchFamily="34" charset="0"/>
              </a:rPr>
              <a:t>References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70540D-0368-4F5A-9AB7-E8F85787C64B}"/>
              </a:ext>
            </a:extLst>
          </p:cNvPr>
          <p:cNvSpPr/>
          <p:nvPr/>
        </p:nvSpPr>
        <p:spPr>
          <a:xfrm>
            <a:off x="32572958" y="31231594"/>
            <a:ext cx="10972800" cy="1326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Gill Sans MT" panose="020B0502020104020203" pitchFamily="34" charset="77"/>
              </a:rPr>
              <a:t>Government Accountability Office (2023). </a:t>
            </a:r>
            <a:r>
              <a:rPr lang="en-US" sz="2000" b="1" dirty="0">
                <a:solidFill>
                  <a:schemeClr val="tx1"/>
                </a:solidFill>
                <a:latin typeface="Gill Sans MT" panose="020B0502020104020203" pitchFamily="34" charset="77"/>
              </a:rPr>
              <a:t>FEMA’s New Rate-Setting Methodology Improves Actuarial Soundness but Highlights Need for Broader Program Reform</a:t>
            </a:r>
            <a:r>
              <a:rPr lang="en-US" sz="2000" dirty="0">
                <a:solidFill>
                  <a:schemeClr val="tx1"/>
                </a:solidFill>
                <a:latin typeface="Gill Sans MT" panose="020B0502020104020203" pitchFamily="34" charset="77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Gill Sans MT" panose="020B0502020104020203" pitchFamily="34" charset="77"/>
              </a:rPr>
              <a:t>Gourevitch et al. (2025). 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Gill Sans MT" panose="020B0502020104020203" pitchFamily="34" charset="77"/>
              </a:rPr>
              <a:t>Effects of Risk-based Pricing Reform on Flood Insurance Uptake</a:t>
            </a:r>
            <a:r>
              <a:rPr lang="en-US" sz="200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Gill Sans MT" panose="020B0502020104020203" pitchFamily="34" charset="77"/>
              </a:rPr>
              <a:t>.</a:t>
            </a:r>
            <a:endParaRPr lang="en-US" sz="240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Gill Sans MT" panose="020B0502020104020203" pitchFamily="34" charset="77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A7E93F-28AB-7451-28FC-3CD392FED168}"/>
              </a:ext>
            </a:extLst>
          </p:cNvPr>
          <p:cNvSpPr/>
          <p:nvPr/>
        </p:nvSpPr>
        <p:spPr>
          <a:xfrm>
            <a:off x="32526927" y="6961680"/>
            <a:ext cx="10972800" cy="6691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73DB6A-B3D0-79FE-FF9E-136F1C7FF9BF}"/>
              </a:ext>
            </a:extLst>
          </p:cNvPr>
          <p:cNvSpPr/>
          <p:nvPr/>
        </p:nvSpPr>
        <p:spPr>
          <a:xfrm>
            <a:off x="32395473" y="6969710"/>
            <a:ext cx="10972800" cy="6691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Gill Sans MT" panose="020B0502020104020203" pitchFamily="34" charset="0"/>
              </a:rPr>
              <a:t>Flood insurance penetration has profound financial implications for </a:t>
            </a:r>
            <a:r>
              <a:rPr lang="en-US" sz="3200" b="1" dirty="0">
                <a:solidFill>
                  <a:schemeClr val="tx1"/>
                </a:solidFill>
                <a:latin typeface="Gill Sans MT" panose="020B0502020104020203" pitchFamily="34" charset="0"/>
              </a:rPr>
              <a:t>local governments</a:t>
            </a:r>
            <a:r>
              <a:rPr lang="en-US" sz="3200" dirty="0">
                <a:solidFill>
                  <a:schemeClr val="tx1"/>
                </a:solidFill>
                <a:latin typeface="Gill Sans MT" panose="020B0502020104020203" pitchFamily="34" charset="0"/>
              </a:rPr>
              <a:t>, who are essential actors </a:t>
            </a:r>
            <a:r>
              <a:rPr lang="en-US" sz="3200" b="1" dirty="0">
                <a:solidFill>
                  <a:schemeClr val="tx1"/>
                </a:solidFill>
                <a:latin typeface="Gill Sans MT" panose="020B0502020104020203" pitchFamily="34" charset="0"/>
              </a:rPr>
              <a:t>in post-disaster relief distribution </a:t>
            </a:r>
            <a:r>
              <a:rPr lang="en-US" sz="3200" dirty="0">
                <a:solidFill>
                  <a:schemeClr val="tx1"/>
                </a:solidFill>
                <a:latin typeface="Gill Sans MT" panose="020B0502020104020203" pitchFamily="34" charset="0"/>
              </a:rPr>
              <a:t>and the integration of </a:t>
            </a:r>
            <a:r>
              <a:rPr lang="en-US" sz="3200" b="1" dirty="0">
                <a:solidFill>
                  <a:schemeClr val="tx1"/>
                </a:solidFill>
                <a:latin typeface="Gill Sans MT" panose="020B0502020104020203" pitchFamily="34" charset="0"/>
              </a:rPr>
              <a:t>community flood resilience mechanisms.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1"/>
                </a:solidFill>
                <a:latin typeface="Gill Sans MT" panose="020B0502020104020203" pitchFamily="34" charset="0"/>
              </a:rPr>
              <a:t>Concentrated lack of flood coverage </a:t>
            </a:r>
            <a:r>
              <a:rPr lang="en-US" sz="3200" dirty="0">
                <a:solidFill>
                  <a:schemeClr val="tx1"/>
                </a:solidFill>
                <a:latin typeface="Gill Sans MT" panose="020B0502020104020203" pitchFamily="34" charset="0"/>
              </a:rPr>
              <a:t>diminishes the revenue a local government can collect through </a:t>
            </a:r>
            <a:r>
              <a:rPr lang="en-US" sz="3200" b="1" dirty="0">
                <a:solidFill>
                  <a:schemeClr val="tx1"/>
                </a:solidFill>
                <a:latin typeface="Gill Sans MT" panose="020B0502020104020203" pitchFamily="34" charset="0"/>
              </a:rPr>
              <a:t>property taxes</a:t>
            </a:r>
            <a:r>
              <a:rPr lang="en-US" sz="3200" dirty="0">
                <a:solidFill>
                  <a:schemeClr val="tx1"/>
                </a:solidFill>
                <a:latin typeface="Gill Sans MT" panose="020B0502020104020203" pitchFamily="34" charset="0"/>
              </a:rPr>
              <a:t>, which harms their ability to provide essential services.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1"/>
                </a:solidFill>
                <a:latin typeface="Gill Sans MT" panose="020B0502020104020203" pitchFamily="34" charset="0"/>
              </a:rPr>
              <a:t>Lenders </a:t>
            </a:r>
            <a:r>
              <a:rPr lang="en-US" sz="3200" dirty="0">
                <a:solidFill>
                  <a:schemeClr val="tx1"/>
                </a:solidFill>
                <a:latin typeface="Gill Sans MT" panose="020B0502020104020203" pitchFamily="34" charset="0"/>
              </a:rPr>
              <a:t>experience greater </a:t>
            </a:r>
            <a:r>
              <a:rPr lang="en-US" sz="3200" b="1" dirty="0">
                <a:solidFill>
                  <a:schemeClr val="tx1"/>
                </a:solidFill>
                <a:latin typeface="Gill Sans MT" panose="020B0502020104020203" pitchFamily="34" charset="0"/>
              </a:rPr>
              <a:t>financial vulnerability</a:t>
            </a:r>
            <a:r>
              <a:rPr lang="en-US" sz="3200" dirty="0">
                <a:solidFill>
                  <a:schemeClr val="tx1"/>
                </a:solidFill>
                <a:latin typeface="Gill Sans MT" panose="020B0502020104020203" pitchFamily="34" charset="0"/>
              </a:rPr>
              <a:t> when flood insurance prices increase because property values will start to decrease, which decreases collateral.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Gill Sans MT" panose="020B0502020104020203" pitchFamily="34" charset="0"/>
              </a:rPr>
              <a:t>If </a:t>
            </a:r>
            <a:r>
              <a:rPr lang="en-US" sz="3200" b="1" dirty="0">
                <a:solidFill>
                  <a:schemeClr val="tx1"/>
                </a:solidFill>
                <a:latin typeface="Gill Sans MT" panose="020B0502020104020203" pitchFamily="34" charset="0"/>
              </a:rPr>
              <a:t>policyholders</a:t>
            </a:r>
            <a:r>
              <a:rPr lang="en-US" sz="3200" dirty="0">
                <a:solidFill>
                  <a:schemeClr val="tx1"/>
                </a:solidFill>
                <a:latin typeface="Gill Sans MT" panose="020B0502020104020203" pitchFamily="34" charset="0"/>
              </a:rPr>
              <a:t> drop their coverage because they cannot afford it, they are more likely to sustain </a:t>
            </a:r>
            <a:r>
              <a:rPr lang="en-US" sz="3200" b="1" dirty="0">
                <a:solidFill>
                  <a:schemeClr val="tx1"/>
                </a:solidFill>
                <a:latin typeface="Gill Sans MT" panose="020B0502020104020203" pitchFamily="34" charset="0"/>
              </a:rPr>
              <a:t>uninsured damages </a:t>
            </a:r>
            <a:r>
              <a:rPr lang="en-US" sz="3200" dirty="0">
                <a:solidFill>
                  <a:schemeClr val="tx1"/>
                </a:solidFill>
                <a:latin typeface="Gill Sans MT" panose="020B0502020104020203" pitchFamily="34" charset="0"/>
              </a:rPr>
              <a:t>when the next flood occurs.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A0DE381-B31D-E84E-8DCA-5FEA8D3ACA75}"/>
              </a:ext>
            </a:extLst>
          </p:cNvPr>
          <p:cNvCxnSpPr>
            <a:cxnSpLocks/>
          </p:cNvCxnSpPr>
          <p:nvPr/>
        </p:nvCxnSpPr>
        <p:spPr>
          <a:xfrm>
            <a:off x="32004000" y="5943600"/>
            <a:ext cx="0" cy="26517600"/>
          </a:xfrm>
          <a:prstGeom prst="line">
            <a:avLst/>
          </a:prstGeom>
          <a:ln w="76200">
            <a:solidFill>
              <a:schemeClr val="accent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4A649075-7DE1-D992-9856-5322636AAA05}"/>
              </a:ext>
            </a:extLst>
          </p:cNvPr>
          <p:cNvSpPr/>
          <p:nvPr/>
        </p:nvSpPr>
        <p:spPr>
          <a:xfrm>
            <a:off x="32526927" y="27030891"/>
            <a:ext cx="10972800" cy="34537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  <a:latin typeface="Gill Sans MT" panose="020B0502020104020203" pitchFamily="34" charset="0"/>
              </a:rPr>
              <a:t>Thank you to everyone at </a:t>
            </a:r>
            <a:r>
              <a:rPr lang="en-US" sz="3200" b="1" dirty="0">
                <a:solidFill>
                  <a:schemeClr val="tx1"/>
                </a:solidFill>
                <a:latin typeface="Gill Sans MT" panose="020B0502020104020203" pitchFamily="34" charset="0"/>
              </a:rPr>
              <a:t>UNC’s Institute for Risk Management and Insurance Innovation</a:t>
            </a:r>
            <a:r>
              <a:rPr lang="en-US" sz="3200" dirty="0">
                <a:solidFill>
                  <a:schemeClr val="tx1"/>
                </a:solidFill>
                <a:latin typeface="Gill Sans MT" panose="020B0502020104020203" pitchFamily="34" charset="0"/>
              </a:rPr>
              <a:t> and </a:t>
            </a:r>
            <a:r>
              <a:rPr lang="en-US" sz="3200" b="1" dirty="0">
                <a:solidFill>
                  <a:schemeClr val="tx1"/>
                </a:solidFill>
                <a:latin typeface="Gill Sans MT" panose="020B0502020104020203" pitchFamily="34" charset="0"/>
              </a:rPr>
              <a:t>UNC’s Flood Hydrology and Hazards Lab</a:t>
            </a:r>
            <a:r>
              <a:rPr lang="en-US" sz="3200" dirty="0">
                <a:solidFill>
                  <a:schemeClr val="tx1"/>
                </a:solidFill>
                <a:latin typeface="Gill Sans MT" panose="020B0502020104020203" pitchFamily="34" charset="0"/>
              </a:rPr>
              <a:t> for the opportunity to pursue this project, and for your generous guidance throughout. </a:t>
            </a:r>
          </a:p>
        </p:txBody>
      </p:sp>
      <p:pic>
        <p:nvPicPr>
          <p:cNvPr id="22" name="Graphic 21" descr="Family with boy with solid fill">
            <a:extLst>
              <a:ext uri="{FF2B5EF4-FFF2-40B4-BE49-F238E27FC236}">
                <a16:creationId xmlns:a16="http://schemas.microsoft.com/office/drawing/2014/main" id="{02D4B96F-E85A-C8ED-4C8D-E07F9266E3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594630" y="18332735"/>
            <a:ext cx="2203755" cy="220375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FEFF6BC-E63F-723F-ECE9-C86717C3D0FE}"/>
              </a:ext>
            </a:extLst>
          </p:cNvPr>
          <p:cNvSpPr txBox="1"/>
          <p:nvPr/>
        </p:nvSpPr>
        <p:spPr>
          <a:xfrm>
            <a:off x="32757349" y="14862983"/>
            <a:ext cx="580357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Gill Sans MT" panose="020B0502020104020203" pitchFamily="34" charset="77"/>
              </a:rPr>
              <a:t>Individual policyholder example (</a:t>
            </a:r>
            <a:r>
              <a:rPr lang="en-US" sz="3200" b="0" i="0" dirty="0">
                <a:effectLst/>
                <a:latin typeface="Gill Sans MT" panose="020B0502020104020203" pitchFamily="34" charset="77"/>
              </a:rPr>
              <a:t>≤</a:t>
            </a:r>
            <a:r>
              <a:rPr lang="en-US" sz="3200" dirty="0">
                <a:latin typeface="Gill Sans MT" panose="020B0502020104020203" pitchFamily="34" charset="77"/>
              </a:rPr>
              <a:t>80% AMI):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atin typeface="Gill Sans MT" panose="020B0502020104020203" pitchFamily="34" charset="77"/>
              </a:rPr>
              <a:t>Policyholder HHI: </a:t>
            </a:r>
            <a:r>
              <a:rPr lang="en-US" sz="3200" dirty="0">
                <a:latin typeface="Gill Sans MT" panose="020B0502020104020203" pitchFamily="34" charset="77"/>
              </a:rPr>
              <a:t>$40,000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atin typeface="Gill Sans MT" panose="020B0502020104020203" pitchFamily="34" charset="77"/>
              </a:rPr>
              <a:t>AMI: </a:t>
            </a:r>
            <a:r>
              <a:rPr lang="en-US" sz="3200" dirty="0">
                <a:latin typeface="Gill Sans MT" panose="020B0502020104020203" pitchFamily="34" charset="77"/>
              </a:rPr>
              <a:t>$80,000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atin typeface="Gill Sans MT" panose="020B0502020104020203" pitchFamily="34" charset="77"/>
              </a:rPr>
              <a:t>Premium: </a:t>
            </a:r>
            <a:r>
              <a:rPr lang="en-US" sz="3200" dirty="0">
                <a:latin typeface="Gill Sans MT" panose="020B0502020104020203" pitchFamily="34" charset="77"/>
              </a:rPr>
              <a:t>$900</a:t>
            </a:r>
          </a:p>
        </p:txBody>
      </p:sp>
      <p:graphicFrame>
        <p:nvGraphicFramePr>
          <p:cNvPr id="33" name="Chart 32">
            <a:extLst>
              <a:ext uri="{FF2B5EF4-FFF2-40B4-BE49-F238E27FC236}">
                <a16:creationId xmlns:a16="http://schemas.microsoft.com/office/drawing/2014/main" id="{3B6F1C8E-7A40-4187-0B89-53796FB21477}"/>
              </a:ext>
            </a:extLst>
          </p:cNvPr>
          <p:cNvGraphicFramePr>
            <a:graphicFrameLocks/>
          </p:cNvGraphicFramePr>
          <p:nvPr/>
        </p:nvGraphicFramePr>
        <p:xfrm>
          <a:off x="35098666" y="17372686"/>
          <a:ext cx="9355468" cy="65694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974E8F2F-0D80-FB2E-A185-A7656D1502FD}"/>
              </a:ext>
            </a:extLst>
          </p:cNvPr>
          <p:cNvSpPr/>
          <p:nvPr/>
        </p:nvSpPr>
        <p:spPr>
          <a:xfrm>
            <a:off x="32594630" y="24367941"/>
            <a:ext cx="10864462" cy="19418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  <a:latin typeface="Gill Sans MT" panose="020B0502020104020203" pitchFamily="34" charset="0"/>
              </a:rPr>
              <a:t>Figure 7.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 Hypothetical </a:t>
            </a:r>
            <a:r>
              <a:rPr lang="en-US" sz="2800" b="1" dirty="0">
                <a:solidFill>
                  <a:schemeClr val="tx1"/>
                </a:solidFill>
                <a:latin typeface="Gill Sans MT" panose="020B0502020104020203" pitchFamily="34" charset="0"/>
              </a:rPr>
              <a:t>Means-Based Assistance Program 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where coverage is based on 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77"/>
              </a:rPr>
              <a:t>amount of premium that exceeds a certain percentage of household income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. Restricted eligibility for policyholders whose household income is below a certain percentage of the AMI. 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C65B17-C017-56F8-F504-A8DDB6429CC8}"/>
              </a:ext>
            </a:extLst>
          </p:cNvPr>
          <p:cNvSpPr txBox="1"/>
          <p:nvPr/>
        </p:nvSpPr>
        <p:spPr>
          <a:xfrm>
            <a:off x="38745318" y="15331476"/>
            <a:ext cx="55146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Gill Sans MT" panose="020B0502020104020203" pitchFamily="34" charset="77"/>
              </a:rPr>
              <a:t>HHI: </a:t>
            </a:r>
            <a:r>
              <a:rPr lang="en-US" sz="2800" dirty="0">
                <a:latin typeface="Gill Sans MT" panose="020B0502020104020203" pitchFamily="34" charset="77"/>
              </a:rPr>
              <a:t>household income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Gill Sans MT" panose="020B0502020104020203" pitchFamily="34" charset="77"/>
              </a:rPr>
              <a:t>AMI: </a:t>
            </a:r>
            <a:r>
              <a:rPr lang="en-US" sz="2800" dirty="0">
                <a:latin typeface="Gill Sans MT" panose="020B0502020104020203" pitchFamily="34" charset="77"/>
              </a:rPr>
              <a:t>area median income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Gill Sans MT" panose="020B0502020104020203" pitchFamily="34" charset="77"/>
              </a:rPr>
              <a:t>MBA: </a:t>
            </a:r>
            <a:r>
              <a:rPr lang="en-US" sz="2800" dirty="0">
                <a:latin typeface="Gill Sans MT" panose="020B0502020104020203" pitchFamily="34" charset="77"/>
              </a:rPr>
              <a:t>means–based assistance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Gill Sans MT" panose="020B0502020104020203" pitchFamily="34" charset="77"/>
              </a:rPr>
              <a:t>MHI: </a:t>
            </a:r>
            <a:r>
              <a:rPr lang="en-US" sz="2800" dirty="0">
                <a:latin typeface="Gill Sans MT" panose="020B0502020104020203" pitchFamily="34" charset="77"/>
              </a:rPr>
              <a:t>median household income </a:t>
            </a:r>
          </a:p>
        </p:txBody>
      </p:sp>
      <p:pic>
        <p:nvPicPr>
          <p:cNvPr id="46" name="Graphic 45" descr="House with solid fill">
            <a:extLst>
              <a:ext uri="{FF2B5EF4-FFF2-40B4-BE49-F238E27FC236}">
                <a16:creationId xmlns:a16="http://schemas.microsoft.com/office/drawing/2014/main" id="{9EDA7FFD-8ACC-EB40-3E97-6B3F1B3490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483488" y="20874604"/>
            <a:ext cx="2313638" cy="23136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788FAAE-2FE2-5065-2250-8B204F560712}"/>
              </a:ext>
            </a:extLst>
          </p:cNvPr>
          <p:cNvSpPr txBox="1"/>
          <p:nvPr/>
        </p:nvSpPr>
        <p:spPr>
          <a:xfrm>
            <a:off x="35180506" y="20689938"/>
            <a:ext cx="16557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$400 Paid by Policyholder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8787E2E-BDB6-BBA7-CF17-4F09D2D70242}"/>
              </a:ext>
            </a:extLst>
          </p:cNvPr>
          <p:cNvSpPr/>
          <p:nvPr/>
        </p:nvSpPr>
        <p:spPr>
          <a:xfrm>
            <a:off x="13059603" y="10069747"/>
            <a:ext cx="19140134" cy="7518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FC0BD11-B299-2A97-1930-9107F7934AC6}"/>
              </a:ext>
            </a:extLst>
          </p:cNvPr>
          <p:cNvSpPr/>
          <p:nvPr/>
        </p:nvSpPr>
        <p:spPr>
          <a:xfrm>
            <a:off x="12386271" y="14779993"/>
            <a:ext cx="14296893" cy="230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  <a:latin typeface="Gill Sans MT" panose="020B0502020104020203" pitchFamily="34" charset="0"/>
              </a:rPr>
              <a:t>Figure 4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. (Above) Map visualizing </a:t>
            </a:r>
            <a:r>
              <a:rPr lang="en-US" sz="2800" b="1" dirty="0">
                <a:solidFill>
                  <a:schemeClr val="tx1"/>
                </a:solidFill>
                <a:latin typeface="Gill Sans MT" panose="020B0502020104020203" pitchFamily="34" charset="0"/>
              </a:rPr>
              <a:t>the median NFIP premium increase in North Carolina by county, 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as of April 1st, 2024</a:t>
            </a:r>
            <a:r>
              <a:rPr lang="en-US" sz="2800" b="1" dirty="0">
                <a:solidFill>
                  <a:schemeClr val="tx1"/>
                </a:solidFill>
                <a:latin typeface="Gill Sans MT" panose="020B0502020104020203" pitchFamily="34" charset="0"/>
              </a:rPr>
              <a:t>. 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Calculated by subtracting the median full-risk premium in each county from the median legacy premium in each county. Darker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</a:rPr>
              <a:t>blues correspond to higher increases in premium, which </a:t>
            </a:r>
            <a:r>
              <a:rPr lang="en-US" sz="2800" dirty="0">
                <a:solidFill>
                  <a:prstClr val="black"/>
                </a:solidFill>
                <a:latin typeface="Gill Sans MT" panose="020B0502020104020203" pitchFamily="34" charset="77"/>
              </a:rPr>
              <a:t>are </a:t>
            </a:r>
            <a:r>
              <a:rPr lang="en-US" sz="2800" b="1" dirty="0">
                <a:solidFill>
                  <a:prstClr val="black"/>
                </a:solidFill>
                <a:latin typeface="Gill Sans MT" panose="020B0502020104020203" pitchFamily="34" charset="77"/>
              </a:rPr>
              <a:t>concentrated in Western North Carolina. </a:t>
            </a:r>
            <a:r>
              <a:rPr lang="en-US" sz="2800" dirty="0">
                <a:solidFill>
                  <a:prstClr val="black"/>
                </a:solidFill>
                <a:latin typeface="Gill Sans MT" panose="020B0502020104020203" pitchFamily="34" charset="77"/>
              </a:rPr>
              <a:t>The</a:t>
            </a:r>
            <a:r>
              <a:rPr lang="en-US" sz="2800" b="1" dirty="0">
                <a:solidFill>
                  <a:prstClr val="black"/>
                </a:solidFill>
                <a:latin typeface="Gill Sans MT" panose="020B0502020104020203" pitchFamily="34" charset="77"/>
              </a:rPr>
              <a:t> statewide </a:t>
            </a:r>
            <a:r>
              <a:rPr lang="en-US" sz="2800" dirty="0">
                <a:solidFill>
                  <a:prstClr val="black"/>
                </a:solidFill>
                <a:latin typeface="Gill Sans MT" panose="020B0502020104020203" pitchFamily="34" charset="77"/>
              </a:rPr>
              <a:t>median NFIP premium increase was </a:t>
            </a:r>
            <a:r>
              <a:rPr lang="en-US" sz="2800" b="1" dirty="0">
                <a:solidFill>
                  <a:prstClr val="black"/>
                </a:solidFill>
                <a:latin typeface="Gill Sans MT" panose="020B0502020104020203" pitchFamily="34" charset="77"/>
              </a:rPr>
              <a:t>$316.00</a:t>
            </a:r>
            <a:r>
              <a:rPr lang="en-US" sz="2800" dirty="0">
                <a:solidFill>
                  <a:prstClr val="black"/>
                </a:solidFill>
                <a:latin typeface="Gill Sans MT" panose="020B0502020104020203" pitchFamily="34" charset="77"/>
              </a:rPr>
              <a:t>. 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0E303F1-47B9-417F-96C0-F8AE2837DA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97367" y="7388896"/>
            <a:ext cx="18296467" cy="6999784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5BDB5D58-264E-BFAF-774C-F9968FCAC9D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687433" y="14047512"/>
            <a:ext cx="4899258" cy="3395783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F05284E6-D9CB-AA21-C1BC-CA748C4A70D9}"/>
              </a:ext>
            </a:extLst>
          </p:cNvPr>
          <p:cNvSpPr/>
          <p:nvPr/>
        </p:nvSpPr>
        <p:spPr>
          <a:xfrm>
            <a:off x="0" y="0"/>
            <a:ext cx="43891200" cy="5486400"/>
          </a:xfrm>
          <a:prstGeom prst="rect">
            <a:avLst/>
          </a:prstGeom>
          <a:solidFill>
            <a:srgbClr val="197C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 b="1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D681517-03E0-576D-4AC6-EE724317F925}"/>
              </a:ext>
            </a:extLst>
          </p:cNvPr>
          <p:cNvSpPr/>
          <p:nvPr/>
        </p:nvSpPr>
        <p:spPr>
          <a:xfrm>
            <a:off x="8534400" y="304800"/>
            <a:ext cx="27432000" cy="3657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0" b="1" dirty="0">
                <a:solidFill>
                  <a:schemeClr val="bg1"/>
                </a:solidFill>
                <a:latin typeface="Gill Sans MT" panose="020B0502020104020203" pitchFamily="34" charset="0"/>
              </a:rPr>
              <a:t>Risk Rating 2.0 and the Affordability and Uptake of Flood Insurance in North Carolina 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7845BE9-0A99-912E-7BA6-5D1638AACDB9}"/>
              </a:ext>
            </a:extLst>
          </p:cNvPr>
          <p:cNvSpPr/>
          <p:nvPr/>
        </p:nvSpPr>
        <p:spPr>
          <a:xfrm>
            <a:off x="8145970" y="3511471"/>
            <a:ext cx="28208860" cy="22471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Gill Sans MT" panose="020B0502020104020203" pitchFamily="34" charset="0"/>
              </a:rPr>
              <a:t>Olivia L. Payne (oleigh@unc.edu), Environmental Studies and Public Policy, Class of 2027</a:t>
            </a:r>
          </a:p>
          <a:p>
            <a:pPr algn="ctr"/>
            <a:r>
              <a:rPr lang="en-US" sz="4000" dirty="0">
                <a:solidFill>
                  <a:schemeClr val="bg1"/>
                </a:solidFill>
                <a:latin typeface="Gill Sans MT" panose="020B0502020104020203" pitchFamily="34" charset="0"/>
              </a:rPr>
              <a:t>Kieran P. Fitzmason, Harrison B. Zeff, Gregory W. Characklis, Antonia Sebastian </a:t>
            </a:r>
            <a:endParaRPr lang="en-US" sz="4000" dirty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algn="ctr"/>
            <a:endParaRPr lang="en-US" sz="40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pic>
        <p:nvPicPr>
          <p:cNvPr id="52" name="Picture 51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671DE95E-62DF-1DF4-2E20-451B464170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54366" y="513080"/>
            <a:ext cx="4948868" cy="468840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900E7C4-E8FE-C0A0-C3F7-9BBC694003E2}"/>
              </a:ext>
            </a:extLst>
          </p:cNvPr>
          <p:cNvSpPr txBox="1"/>
          <p:nvPr/>
        </p:nvSpPr>
        <p:spPr>
          <a:xfrm rot="10800000" flipV="1">
            <a:off x="12344400" y="18645301"/>
            <a:ext cx="68836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479EE38-6E72-B88F-7935-A4DFE1621A8C}"/>
              </a:ext>
            </a:extLst>
          </p:cNvPr>
          <p:cNvCxnSpPr>
            <a:cxnSpLocks/>
          </p:cNvCxnSpPr>
          <p:nvPr/>
        </p:nvCxnSpPr>
        <p:spPr>
          <a:xfrm>
            <a:off x="494646" y="27701085"/>
            <a:ext cx="0" cy="2563857"/>
          </a:xfrm>
          <a:prstGeom prst="line">
            <a:avLst/>
          </a:prstGeom>
          <a:ln w="444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93AEAF2-1B45-261D-02D9-5A654138E91F}"/>
              </a:ext>
            </a:extLst>
          </p:cNvPr>
          <p:cNvCxnSpPr>
            <a:cxnSpLocks/>
          </p:cNvCxnSpPr>
          <p:nvPr/>
        </p:nvCxnSpPr>
        <p:spPr>
          <a:xfrm flipV="1">
            <a:off x="491746" y="29670523"/>
            <a:ext cx="8979497" cy="21132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AA5F67D1-01D9-8EF5-3562-9ACA9BCAFD7C}"/>
              </a:ext>
            </a:extLst>
          </p:cNvPr>
          <p:cNvSpPr txBox="1"/>
          <p:nvPr/>
        </p:nvSpPr>
        <p:spPr>
          <a:xfrm>
            <a:off x="6791029" y="27293508"/>
            <a:ext cx="15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ill Sans MT" panose="020B0502020104020203" pitchFamily="34" charset="77"/>
              </a:rPr>
              <a:t>04/01/2022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28DE8A7-9FF6-E19A-70C9-C57CA0A00811}"/>
              </a:ext>
            </a:extLst>
          </p:cNvPr>
          <p:cNvSpPr txBox="1"/>
          <p:nvPr/>
        </p:nvSpPr>
        <p:spPr>
          <a:xfrm>
            <a:off x="133624" y="27294512"/>
            <a:ext cx="15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ill Sans MT" panose="020B0502020104020203" pitchFamily="34" charset="77"/>
              </a:rPr>
              <a:t>01/01/2009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4CC668D-8225-D2FC-3D4E-1AFA62DFC859}"/>
              </a:ext>
            </a:extLst>
          </p:cNvPr>
          <p:cNvSpPr txBox="1"/>
          <p:nvPr/>
        </p:nvSpPr>
        <p:spPr>
          <a:xfrm>
            <a:off x="8229600" y="27289026"/>
            <a:ext cx="15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ill Sans MT" panose="020B0502020104020203" pitchFamily="34" charset="77"/>
              </a:rPr>
              <a:t>04/01/2023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DDA7F8E-78BF-A401-29C5-F118FE642AE0}"/>
              </a:ext>
            </a:extLst>
          </p:cNvPr>
          <p:cNvSpPr txBox="1"/>
          <p:nvPr/>
        </p:nvSpPr>
        <p:spPr>
          <a:xfrm>
            <a:off x="499241" y="30415503"/>
            <a:ext cx="1062995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Gill Sans MT" panose="020B0502020104020203" pitchFamily="34" charset="0"/>
              </a:rPr>
              <a:t>Figure 3. 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Two</a:t>
            </a:r>
            <a:r>
              <a:rPr lang="en-US" sz="2800" b="1" dirty="0">
                <a:solidFill>
                  <a:schemeClr val="tx1"/>
                </a:solidFill>
                <a:latin typeface="Gill Sans MT" panose="020B0502020104020203" pitchFamily="34" charset="0"/>
              </a:rPr>
              <a:t> policyholder types 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were used throughout the analysis. Both Type 1 and Type 2 policyholders </a:t>
            </a:r>
            <a:r>
              <a:rPr lang="en-US" sz="2800" b="1" dirty="0">
                <a:solidFill>
                  <a:schemeClr val="tx1"/>
                </a:solidFill>
                <a:latin typeface="Gill Sans MT" panose="020B0502020104020203" pitchFamily="34" charset="0"/>
              </a:rPr>
              <a:t>held an NFIP policy before the rollout of Risk Rating 2.0. 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Type 2 policyholders </a:t>
            </a:r>
            <a:r>
              <a:rPr lang="en-US" sz="2800" b="1" dirty="0">
                <a:solidFill>
                  <a:schemeClr val="tx1"/>
                </a:solidFill>
                <a:latin typeface="Gill Sans MT" panose="020B0502020104020203" pitchFamily="34" charset="0"/>
              </a:rPr>
              <a:t>terminated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 their policy </a:t>
            </a:r>
            <a:r>
              <a:rPr lang="en-US" sz="2800" b="1" dirty="0">
                <a:solidFill>
                  <a:schemeClr val="tx1"/>
                </a:solidFill>
                <a:latin typeface="Gill Sans MT" panose="020B0502020104020203" pitchFamily="34" charset="0"/>
              </a:rPr>
              <a:t>after their first renewal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 into the new pricing system.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0BDCB85-FAC4-AB21-E98B-263B75C02607}"/>
              </a:ext>
            </a:extLst>
          </p:cNvPr>
          <p:cNvSpPr txBox="1"/>
          <p:nvPr/>
        </p:nvSpPr>
        <p:spPr>
          <a:xfrm>
            <a:off x="9864933" y="27290689"/>
            <a:ext cx="15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ill Sans MT" panose="020B0502020104020203" pitchFamily="34" charset="77"/>
              </a:rPr>
              <a:t>05/01/2025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E7AFE4F-2DC1-3D8C-06DF-51827DC0054B}"/>
              </a:ext>
            </a:extLst>
          </p:cNvPr>
          <p:cNvSpPr txBox="1"/>
          <p:nvPr/>
        </p:nvSpPr>
        <p:spPr>
          <a:xfrm rot="16200000">
            <a:off x="-120212" y="29493442"/>
            <a:ext cx="847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Gill Sans MT" panose="020B0502020104020203" pitchFamily="34" charset="77"/>
              </a:rPr>
              <a:t>Type 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1DCB523-A4B3-F59E-C3BD-8341087DFC36}"/>
              </a:ext>
            </a:extLst>
          </p:cNvPr>
          <p:cNvSpPr txBox="1"/>
          <p:nvPr/>
        </p:nvSpPr>
        <p:spPr>
          <a:xfrm rot="16200000">
            <a:off x="-120795" y="28282157"/>
            <a:ext cx="8473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Gill Sans MT" panose="020B0502020104020203" pitchFamily="34" charset="77"/>
              </a:rPr>
              <a:t>Type 1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F1462000-8285-DCB4-4089-FD2871EE863D}"/>
              </a:ext>
            </a:extLst>
          </p:cNvPr>
          <p:cNvCxnSpPr>
            <a:cxnSpLocks/>
          </p:cNvCxnSpPr>
          <p:nvPr/>
        </p:nvCxnSpPr>
        <p:spPr>
          <a:xfrm>
            <a:off x="7328436" y="27701085"/>
            <a:ext cx="0" cy="2563857"/>
          </a:xfrm>
          <a:prstGeom prst="line">
            <a:avLst/>
          </a:prstGeom>
          <a:ln w="444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35FCA33-1A92-1B9E-614C-D39C71A18D4E}"/>
              </a:ext>
            </a:extLst>
          </p:cNvPr>
          <p:cNvCxnSpPr>
            <a:cxnSpLocks/>
          </p:cNvCxnSpPr>
          <p:nvPr/>
        </p:nvCxnSpPr>
        <p:spPr>
          <a:xfrm>
            <a:off x="8524407" y="27701085"/>
            <a:ext cx="0" cy="2563857"/>
          </a:xfrm>
          <a:prstGeom prst="line">
            <a:avLst/>
          </a:prstGeom>
          <a:ln w="444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3EEDC8C-0741-23FF-5455-1294DCA992D1}"/>
              </a:ext>
            </a:extLst>
          </p:cNvPr>
          <p:cNvCxnSpPr>
            <a:cxnSpLocks/>
          </p:cNvCxnSpPr>
          <p:nvPr/>
        </p:nvCxnSpPr>
        <p:spPr>
          <a:xfrm>
            <a:off x="10388584" y="27701085"/>
            <a:ext cx="0" cy="2563857"/>
          </a:xfrm>
          <a:prstGeom prst="line">
            <a:avLst/>
          </a:prstGeom>
          <a:ln w="444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9" name="Graphic 58" descr="Checkmark with solid fill">
            <a:extLst>
              <a:ext uri="{FF2B5EF4-FFF2-40B4-BE49-F238E27FC236}">
                <a16:creationId xmlns:a16="http://schemas.microsoft.com/office/drawing/2014/main" id="{B6219CDB-5B95-4970-B7D1-5C5E5E962C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968991" y="27569541"/>
            <a:ext cx="1160216" cy="1160216"/>
          </a:xfrm>
          <a:prstGeom prst="rect">
            <a:avLst/>
          </a:prstGeom>
        </p:spPr>
      </p:pic>
      <p:pic>
        <p:nvPicPr>
          <p:cNvPr id="56" name="Graphic 55" descr="Close with solid fill">
            <a:extLst>
              <a:ext uri="{FF2B5EF4-FFF2-40B4-BE49-F238E27FC236}">
                <a16:creationId xmlns:a16="http://schemas.microsoft.com/office/drawing/2014/main" id="{BCBB7E65-8F7A-CFF2-B7D0-792FBBBE01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8808180" y="29014095"/>
            <a:ext cx="1326127" cy="1326127"/>
          </a:xfrm>
          <a:prstGeom prst="rect">
            <a:avLst/>
          </a:prstGeom>
        </p:spPr>
      </p:pic>
      <p:pic>
        <p:nvPicPr>
          <p:cNvPr id="124" name="Graphic 123">
            <a:extLst>
              <a:ext uri="{FF2B5EF4-FFF2-40B4-BE49-F238E27FC236}">
                <a16:creationId xmlns:a16="http://schemas.microsoft.com/office/drawing/2014/main" id="{3E09616C-753D-8D68-0F77-C7166FC1E7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4000" y="513080"/>
            <a:ext cx="5690331" cy="4572000"/>
          </a:xfrm>
          <a:prstGeom prst="rect">
            <a:avLst/>
          </a:prstGeom>
        </p:spPr>
      </p:pic>
      <p:pic>
        <p:nvPicPr>
          <p:cNvPr id="54" name="Content Placeholder 3">
            <a:extLst>
              <a:ext uri="{FF2B5EF4-FFF2-40B4-BE49-F238E27FC236}">
                <a16:creationId xmlns:a16="http://schemas.microsoft.com/office/drawing/2014/main" id="{527B0C42-28CA-0804-610E-E60B853ED3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14"/>
          <a:srcRect l="3905" r="3463" b="3544"/>
          <a:stretch/>
        </p:blipFill>
        <p:spPr>
          <a:xfrm>
            <a:off x="18030786" y="17438850"/>
            <a:ext cx="13517025" cy="55209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34E0966-DCAE-5305-33E3-1D01CF080D97}"/>
                  </a:ext>
                </a:extLst>
              </p:cNvPr>
              <p:cNvSpPr txBox="1"/>
              <p:nvPr/>
            </p:nvSpPr>
            <p:spPr>
              <a:xfrm>
                <a:off x="12341063" y="17658338"/>
                <a:ext cx="3034666" cy="4401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Figure 5. </a:t>
                </a:r>
                <a:r>
                  <a:rPr lang="en-US" sz="2800" dirty="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(Right) </a:t>
                </a:r>
                <a:r>
                  <a:rPr lang="en-US" sz="2800" b="1" dirty="0">
                    <a:latin typeface="Gill Sans MT" panose="020B0502020104020203" pitchFamily="34" charset="0"/>
                  </a:rPr>
                  <a:t>P</a:t>
                </a:r>
                <a:r>
                  <a:rPr lang="en-US" sz="2800" b="1" dirty="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roportion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b="1" dirty="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of active NFIP policies </a:t>
                </a:r>
                <a:r>
                  <a:rPr lang="en-US" sz="2800" dirty="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in each North Carolina county that were </a:t>
                </a:r>
                <a:r>
                  <a:rPr lang="en-US" sz="2800" b="1" dirty="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priced at or above the full-risk rate</a:t>
                </a:r>
                <a:r>
                  <a:rPr lang="en-US" sz="2800" dirty="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,</a:t>
                </a:r>
                <a:r>
                  <a:rPr lang="en-US" sz="2800" b="1" dirty="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 </a:t>
                </a:r>
                <a:r>
                  <a:rPr lang="en-US" sz="2800" dirty="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as of April 1st, 2024. 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34E0966-DCAE-5305-33E3-1D01CF080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1063" y="17658338"/>
                <a:ext cx="3034666" cy="4401205"/>
              </a:xfrm>
              <a:prstGeom prst="rect">
                <a:avLst/>
              </a:prstGeom>
              <a:blipFill>
                <a:blip r:embed="rId20"/>
                <a:stretch>
                  <a:fillRect l="-4167" t="-1437" b="-28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7" name="Picture 56">
            <a:extLst>
              <a:ext uri="{FF2B5EF4-FFF2-40B4-BE49-F238E27FC236}">
                <a16:creationId xmlns:a16="http://schemas.microsoft.com/office/drawing/2014/main" id="{D75F7C95-D371-AB88-BB87-4DB1B4DAC68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399908" y="18286337"/>
            <a:ext cx="2015701" cy="3970318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2A9F69DC-4001-7718-4D39-EB0D6611C81C}"/>
              </a:ext>
            </a:extLst>
          </p:cNvPr>
          <p:cNvSpPr txBox="1"/>
          <p:nvPr/>
        </p:nvSpPr>
        <p:spPr>
          <a:xfrm>
            <a:off x="15185872" y="17391694"/>
            <a:ext cx="322122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latin typeface="Gill Sans MT" panose="020B0502020104020203" pitchFamily="34" charset="77"/>
              </a:rPr>
              <a:t>% of NFIP Policies at Full-Risk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2A968F7-A969-036E-02A5-41560E1FD35F}"/>
              </a:ext>
            </a:extLst>
          </p:cNvPr>
          <p:cNvSpPr txBox="1"/>
          <p:nvPr/>
        </p:nvSpPr>
        <p:spPr>
          <a:xfrm>
            <a:off x="26604421" y="13414546"/>
            <a:ext cx="466911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Gill Sans MT" panose="020B0502020104020203" pitchFamily="34" charset="77"/>
              </a:rPr>
              <a:t>Median Premium Increase ($)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836584C9-3CFC-1F1C-EEC6-5D0D71EDA9A5}"/>
              </a:ext>
            </a:extLst>
          </p:cNvPr>
          <p:cNvPicPr>
            <a:picLocks noChangeAspect="1"/>
          </p:cNvPicPr>
          <p:nvPr/>
        </p:nvPicPr>
        <p:blipFill rotWithShape="1">
          <a:blip r:embed="rId22"/>
          <a:srcRect l="1019" t="3093"/>
          <a:stretch/>
        </p:blipFill>
        <p:spPr>
          <a:xfrm>
            <a:off x="12081310" y="23226450"/>
            <a:ext cx="15932877" cy="9375478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A270D9AE-2AC5-46B8-92D7-C9CCB3C3193B}"/>
              </a:ext>
            </a:extLst>
          </p:cNvPr>
          <p:cNvSpPr txBox="1"/>
          <p:nvPr/>
        </p:nvSpPr>
        <p:spPr>
          <a:xfrm>
            <a:off x="15396842" y="23276411"/>
            <a:ext cx="400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Gill Sans MT" panose="020B0502020104020203" pitchFamily="34" charset="77"/>
              </a:rPr>
              <a:t>Inside SFHA 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574CF65-D42D-4BE4-9DB1-ADA60874AC1E}"/>
              </a:ext>
            </a:extLst>
          </p:cNvPr>
          <p:cNvSpPr txBox="1"/>
          <p:nvPr/>
        </p:nvSpPr>
        <p:spPr>
          <a:xfrm>
            <a:off x="23393878" y="23313063"/>
            <a:ext cx="400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Gill Sans MT" panose="020B0502020104020203" pitchFamily="34" charset="77"/>
              </a:rPr>
              <a:t>Outside SFHA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E3ACA8C-9F6A-26A2-ED2E-D0C80D1D9143}"/>
              </a:ext>
            </a:extLst>
          </p:cNvPr>
          <p:cNvSpPr txBox="1"/>
          <p:nvPr/>
        </p:nvSpPr>
        <p:spPr>
          <a:xfrm>
            <a:off x="28270445" y="23774594"/>
            <a:ext cx="3544793" cy="8279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Gill Sans MT" panose="020B0502020104020203" pitchFamily="34" charset="0"/>
              </a:rPr>
              <a:t>Figure 6. 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(Left) Cumulative </a:t>
            </a:r>
            <a:r>
              <a:rPr lang="en-US" sz="2800" b="1" dirty="0">
                <a:solidFill>
                  <a:schemeClr val="tx1"/>
                </a:solidFill>
                <a:latin typeface="Gill Sans MT" panose="020B0502020104020203" pitchFamily="34" charset="0"/>
              </a:rPr>
              <a:t>probability </a:t>
            </a:r>
            <a:r>
              <a:rPr lang="en-US" sz="2800" b="1" dirty="0">
                <a:latin typeface="Gill Sans MT" panose="020B0502020104020203" pitchFamily="34" charset="0"/>
              </a:rPr>
              <a:t>that an </a:t>
            </a:r>
            <a:r>
              <a:rPr lang="en-US" sz="2800" b="1" dirty="0">
                <a:solidFill>
                  <a:schemeClr val="tx1"/>
                </a:solidFill>
                <a:latin typeface="Gill Sans MT" panose="020B0502020104020203" pitchFamily="34" charset="0"/>
              </a:rPr>
              <a:t>NFIP policyholder will drop their coverage 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as time extends post-rollout of Risk Rating 2.0. </a:t>
            </a:r>
            <a:r>
              <a:rPr lang="en-US" sz="2800" b="1" dirty="0">
                <a:solidFill>
                  <a:schemeClr val="tx1"/>
                </a:solidFill>
                <a:latin typeface="Gill Sans MT" panose="020B0502020104020203" pitchFamily="34" charset="0"/>
              </a:rPr>
              <a:t>Flood insurance is mandatory 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for properties with a federally backed mortgage </a:t>
            </a:r>
            <a:r>
              <a:rPr lang="en-US" sz="2800" b="1" dirty="0">
                <a:solidFill>
                  <a:schemeClr val="tx1"/>
                </a:solidFill>
                <a:latin typeface="Gill Sans MT" panose="020B0502020104020203" pitchFamily="34" charset="0"/>
              </a:rPr>
              <a:t>within the the Special Flood Hazard Area (SFHA), 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defined by FEMA as areas with a </a:t>
            </a:r>
            <a:r>
              <a:rPr lang="en-US" sz="2800" b="1" dirty="0">
                <a:solidFill>
                  <a:schemeClr val="tx1"/>
                </a:solidFill>
                <a:latin typeface="Gill Sans MT" panose="020B0502020104020203" pitchFamily="34" charset="0"/>
              </a:rPr>
              <a:t>1% or greater 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chance of flooding in a year. 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28F955B-E5F2-ED00-F277-9A88CCDEF120}"/>
              </a:ext>
            </a:extLst>
          </p:cNvPr>
          <p:cNvSpPr/>
          <p:nvPr/>
        </p:nvSpPr>
        <p:spPr>
          <a:xfrm>
            <a:off x="22408589" y="24589409"/>
            <a:ext cx="442162" cy="397566"/>
          </a:xfrm>
          <a:prstGeom prst="rect">
            <a:avLst/>
          </a:prstGeom>
          <a:solidFill>
            <a:srgbClr val="B2DF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1CFBFD0-11FD-7591-ABD4-F80423268B12}"/>
              </a:ext>
            </a:extLst>
          </p:cNvPr>
          <p:cNvSpPr txBox="1"/>
          <p:nvPr/>
        </p:nvSpPr>
        <p:spPr>
          <a:xfrm>
            <a:off x="21778669" y="23909208"/>
            <a:ext cx="2587155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latin typeface="Gill Sans MT" panose="020B0502020104020203" pitchFamily="34" charset="77"/>
              </a:rPr>
              <a:t>% Increase in Premium: 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96F2852-49F8-9612-6B05-93EC7ECA95D8}"/>
              </a:ext>
            </a:extLst>
          </p:cNvPr>
          <p:cNvSpPr txBox="1"/>
          <p:nvPr/>
        </p:nvSpPr>
        <p:spPr>
          <a:xfrm>
            <a:off x="22876934" y="24601163"/>
            <a:ext cx="25874132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latin typeface="Gill Sans MT" panose="020B0502020104020203" pitchFamily="34" charset="77"/>
              </a:rPr>
              <a:t>0-8% (n = 20401)</a:t>
            </a:r>
          </a:p>
          <a:p>
            <a:endParaRPr lang="en-US" sz="1800" b="1" dirty="0">
              <a:latin typeface="Gill Sans MT" panose="020B0502020104020203" pitchFamily="34" charset="77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5363DB6-80AB-411D-0952-3EECDACB38D7}"/>
              </a:ext>
            </a:extLst>
          </p:cNvPr>
          <p:cNvSpPr/>
          <p:nvPr/>
        </p:nvSpPr>
        <p:spPr>
          <a:xfrm>
            <a:off x="22403543" y="25083916"/>
            <a:ext cx="442162" cy="397566"/>
          </a:xfrm>
          <a:prstGeom prst="rect">
            <a:avLst/>
          </a:prstGeom>
          <a:solidFill>
            <a:srgbClr val="66C2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BEFFD05-E83B-15D0-E8A3-FB70AD375A00}"/>
              </a:ext>
            </a:extLst>
          </p:cNvPr>
          <p:cNvSpPr txBox="1"/>
          <p:nvPr/>
        </p:nvSpPr>
        <p:spPr>
          <a:xfrm>
            <a:off x="22871887" y="25112150"/>
            <a:ext cx="282712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latin typeface="Gill Sans MT" panose="020B0502020104020203" pitchFamily="34" charset="77"/>
              </a:rPr>
              <a:t>&gt;8-40% (n = 7650)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CFDE086-A454-9BC4-8550-55B129F73B0A}"/>
              </a:ext>
            </a:extLst>
          </p:cNvPr>
          <p:cNvSpPr/>
          <p:nvPr/>
        </p:nvSpPr>
        <p:spPr>
          <a:xfrm>
            <a:off x="22403543" y="25596767"/>
            <a:ext cx="442162" cy="397566"/>
          </a:xfrm>
          <a:prstGeom prst="rect">
            <a:avLst/>
          </a:prstGeom>
          <a:solidFill>
            <a:srgbClr val="2CA2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649831D-DDBE-E4C4-A6DC-21237EC8349C}"/>
              </a:ext>
            </a:extLst>
          </p:cNvPr>
          <p:cNvSpPr txBox="1"/>
          <p:nvPr/>
        </p:nvSpPr>
        <p:spPr>
          <a:xfrm>
            <a:off x="22874754" y="25634906"/>
            <a:ext cx="344497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latin typeface="Gill Sans MT" panose="020B0502020104020203" pitchFamily="34" charset="77"/>
              </a:rPr>
              <a:t>&gt;40-150% (n = 11203)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0AB38688-9AE0-6061-4B28-AF1887529E9D}"/>
              </a:ext>
            </a:extLst>
          </p:cNvPr>
          <p:cNvSpPr/>
          <p:nvPr/>
        </p:nvSpPr>
        <p:spPr>
          <a:xfrm>
            <a:off x="22403543" y="26113421"/>
            <a:ext cx="442162" cy="397566"/>
          </a:xfrm>
          <a:prstGeom prst="rect">
            <a:avLst/>
          </a:prstGeom>
          <a:solidFill>
            <a:srgbClr val="006D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AD0EDDC-7D47-2C9A-519C-6E834E2430E2}"/>
              </a:ext>
            </a:extLst>
          </p:cNvPr>
          <p:cNvSpPr txBox="1"/>
          <p:nvPr/>
        </p:nvSpPr>
        <p:spPr>
          <a:xfrm>
            <a:off x="22882690" y="26113421"/>
            <a:ext cx="2586837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latin typeface="Gill Sans MT" panose="020B0502020104020203" pitchFamily="34" charset="77"/>
              </a:rPr>
              <a:t>&gt;150% (n = 7013)</a:t>
            </a:r>
            <a:endParaRPr lang="en-US" sz="2500" dirty="0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E12D3A69-2F11-541C-1C82-F1E8D5D78CBB}"/>
              </a:ext>
            </a:extLst>
          </p:cNvPr>
          <p:cNvSpPr/>
          <p:nvPr/>
        </p:nvSpPr>
        <p:spPr>
          <a:xfrm>
            <a:off x="14013886" y="24591819"/>
            <a:ext cx="442162" cy="397566"/>
          </a:xfrm>
          <a:prstGeom prst="rect">
            <a:avLst/>
          </a:prstGeom>
          <a:solidFill>
            <a:srgbClr val="DDA0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BCFC9E8D-3D7E-261E-C34C-0AD029CC1360}"/>
              </a:ext>
            </a:extLst>
          </p:cNvPr>
          <p:cNvSpPr/>
          <p:nvPr/>
        </p:nvSpPr>
        <p:spPr>
          <a:xfrm>
            <a:off x="14013886" y="25082360"/>
            <a:ext cx="442162" cy="397566"/>
          </a:xfrm>
          <a:prstGeom prst="rect">
            <a:avLst/>
          </a:prstGeom>
          <a:solidFill>
            <a:srgbClr val="DA70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7CBDD691-6CB2-A5C1-31ED-1B593AAFF992}"/>
              </a:ext>
            </a:extLst>
          </p:cNvPr>
          <p:cNvSpPr/>
          <p:nvPr/>
        </p:nvSpPr>
        <p:spPr>
          <a:xfrm>
            <a:off x="14013886" y="25596767"/>
            <a:ext cx="442162" cy="397566"/>
          </a:xfrm>
          <a:prstGeom prst="rect">
            <a:avLst/>
          </a:prstGeom>
          <a:solidFill>
            <a:srgbClr val="9400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0742656E-8406-9825-C977-BBC1FC3F7AED}"/>
              </a:ext>
            </a:extLst>
          </p:cNvPr>
          <p:cNvSpPr/>
          <p:nvPr/>
        </p:nvSpPr>
        <p:spPr>
          <a:xfrm>
            <a:off x="14013886" y="26114590"/>
            <a:ext cx="442162" cy="397566"/>
          </a:xfrm>
          <a:prstGeom prst="rect">
            <a:avLst/>
          </a:prstGeom>
          <a:solidFill>
            <a:srgbClr val="551A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769C836-DC1B-2E74-9EEA-74229754A5D4}"/>
              </a:ext>
            </a:extLst>
          </p:cNvPr>
          <p:cNvSpPr txBox="1"/>
          <p:nvPr/>
        </p:nvSpPr>
        <p:spPr>
          <a:xfrm>
            <a:off x="13640094" y="23905618"/>
            <a:ext cx="2588078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latin typeface="Gill Sans MT" panose="020B0502020104020203" pitchFamily="34" charset="77"/>
              </a:rPr>
              <a:t>% Increase in Premium: 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C7B6349-71ED-191A-EBA6-78030CA50A3C}"/>
              </a:ext>
            </a:extLst>
          </p:cNvPr>
          <p:cNvSpPr txBox="1"/>
          <p:nvPr/>
        </p:nvSpPr>
        <p:spPr>
          <a:xfrm>
            <a:off x="14588488" y="25106848"/>
            <a:ext cx="282712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latin typeface="Gill Sans MT" panose="020B0502020104020203" pitchFamily="34" charset="77"/>
              </a:rPr>
              <a:t>&gt;8-40% (n = 5853)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7C74B41-A8D2-381F-DDD7-8D6853D7C372}"/>
              </a:ext>
            </a:extLst>
          </p:cNvPr>
          <p:cNvSpPr txBox="1"/>
          <p:nvPr/>
        </p:nvSpPr>
        <p:spPr>
          <a:xfrm>
            <a:off x="14574457" y="25634537"/>
            <a:ext cx="344497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latin typeface="Gill Sans MT" panose="020B0502020104020203" pitchFamily="34" charset="77"/>
              </a:rPr>
              <a:t>&gt;40-150% (n = 15144)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5A081787-E402-E642-CD57-36362DDAD4F7}"/>
              </a:ext>
            </a:extLst>
          </p:cNvPr>
          <p:cNvSpPr txBox="1"/>
          <p:nvPr/>
        </p:nvSpPr>
        <p:spPr>
          <a:xfrm>
            <a:off x="14582393" y="26179280"/>
            <a:ext cx="2586837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latin typeface="Gill Sans MT" panose="020B0502020104020203" pitchFamily="34" charset="77"/>
              </a:rPr>
              <a:t>&gt;150% (n = 17095)</a:t>
            </a:r>
            <a:endParaRPr lang="en-US" sz="2500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769738E9-7C8E-4812-555E-387C45031702}"/>
              </a:ext>
            </a:extLst>
          </p:cNvPr>
          <p:cNvSpPr txBox="1"/>
          <p:nvPr/>
        </p:nvSpPr>
        <p:spPr>
          <a:xfrm>
            <a:off x="14615167" y="24601677"/>
            <a:ext cx="2586867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latin typeface="Gill Sans MT" panose="020B0502020104020203" pitchFamily="34" charset="77"/>
              </a:rPr>
              <a:t>0-8% (n = 16256)</a:t>
            </a:r>
          </a:p>
        </p:txBody>
      </p:sp>
    </p:spTree>
    <p:extLst>
      <p:ext uri="{BB962C8B-B14F-4D97-AF65-F5344CB8AC3E}">
        <p14:creationId xmlns:p14="http://schemas.microsoft.com/office/powerpoint/2010/main" val="403139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22282</TotalTime>
  <Words>929</Words>
  <Application>Microsoft Office PowerPoint</Application>
  <PresentationFormat>Custom</PresentationFormat>
  <Paragraphs>74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Cambria Math</vt:lpstr>
      <vt:lpstr>Gill Sans MT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Fitzmaurice, Kieran Patrick</dc:creator>
  <cp:lastModifiedBy>Fitzmason, Kieran Patrick</cp:lastModifiedBy>
  <cp:revision>147</cp:revision>
  <dcterms:created xsi:type="dcterms:W3CDTF">2023-11-19T21:45:29Z</dcterms:created>
  <dcterms:modified xsi:type="dcterms:W3CDTF">2026-04-27T18:51:16Z</dcterms:modified>
</cp:coreProperties>
</file>